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7548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47548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47548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47548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47548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47548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9377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49377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49377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49377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9377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34440" y="49377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0040" y="51206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" y="51206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51206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51206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51206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34440" y="51206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0040" y="53035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" y="53035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53035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3035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" y="53035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34440" y="53035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75520" y="2286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76688" y="2286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77856" y="2286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79024" y="2286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80192" y="2286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75520" y="429768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76688" y="429768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7856" y="429768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79024" y="429768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80192" y="429768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875520" y="630936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6688" y="630936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77856" y="630936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79024" y="630936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80192" y="630936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11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47"/>
                </a:solidFill>
              </a:rPr>
              <a:t>Digital Wellness®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11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CSIRO  TOTAL WELLBEING DIET  •  MAYO CLINIC DIET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14173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F2937"/>
                </a:solidFill>
              </a:rPr>
              <a:t>Content Strategy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2331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4CC"/>
                </a:solidFill>
              </a:rPr>
              <a:t>Research  →  Competitor Intelligence  →  Video Ideas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2834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Includes: Podcast Competitor Analysis &amp; Strategy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429000"/>
            <a:ext cx="5029200" cy="36576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Prepared by Digital Wellness Content Team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39776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Date: March 2026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79" y="457200"/>
            <a:ext cx="4389120" cy="576072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31546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[ Hero image 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3856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5568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3856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5568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3856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How the Content Pipeline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4CC"/>
                </a:solidFill>
              </a:rPr>
              <a:t>Three sequential research phases produce prioritised, brief-ready video concepts every cycle.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1508760"/>
            <a:ext cx="3429000" cy="384048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1508760"/>
            <a:ext cx="3429000" cy="34747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15636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STEP 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1572768"/>
            <a:ext cx="2715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Research Trends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" y="1947672"/>
            <a:ext cx="32095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Identifies the top 5 trending topics, high-priority keywords, platform format trends, and the GLP-1 landscape. Output: strategic research report with content opportunities ranked by urgency and audience fit.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1508760"/>
            <a:ext cx="3429000" cy="384048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23360" y="1508760"/>
            <a:ext cx="3429000" cy="34747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33088" y="15636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STEP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1572768"/>
            <a:ext cx="2715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Competitor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8" y="1947672"/>
            <a:ext cx="32095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Analyses competitor social media accounts (WW, Noom, Juniper, Kic, Optislim) to map winning hooks, best-performing formats, posting cadence, and content gaps. Output: white-space map showing where no competitor holds credentialed authority.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1508760"/>
            <a:ext cx="3429000" cy="384048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35240" y="1508760"/>
            <a:ext cx="3429000" cy="34747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967" y="15636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STEP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572768"/>
            <a:ext cx="2715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Video Ideas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7" y="1947672"/>
            <a:ext cx="32095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Synthesises Steps 1 &amp; 2 into a ranked list of 15 video concepts, then produces full production briefs for the top 3 — including hook variations, video structure, key messages, science anchors, CTA, and production notes.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4CC"/>
                </a:solidFill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4CC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532120"/>
            <a:ext cx="11365992" cy="59436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5961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4CC"/>
                </a:solidFill>
              </a:rPr>
              <a:t>BONUS:  Podcast Competitor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61441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Analyses 5 top health podcasts (Huberman Lab, ZOE, Feel Better Live More, The Doctor's Kitchen, On Purpose) and identifies the unoccupied gap where Digital Wellness can enter with unique authority.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-1371600"/>
            <a:ext cx="6400800" cy="914400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-457200"/>
            <a:ext cx="6858000" cy="8229600"/>
          </a:xfrm>
          <a:prstGeom prst="ellipse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1097280"/>
            <a:ext cx="3840480" cy="438912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31089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[ Image ]</a:t>
            </a:r>
          </a:p>
        </p:txBody>
      </p:sp>
      <p:sp>
        <p:nvSpPr>
          <p:cNvPr id="7" name="Oval 6"/>
          <p:cNvSpPr/>
          <p:nvPr/>
        </p:nvSpPr>
        <p:spPr>
          <a:xfrm>
            <a:off x="11155680" y="182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56848" y="182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58015" y="182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59184" y="182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0" y="384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56848" y="384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58015" y="384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59184" y="384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0" y="585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56848" y="585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58015" y="585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59184" y="585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55680" y="786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56848" y="786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58015" y="786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759184" y="786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4CC"/>
                </a:solidFill>
              </a:rPr>
              <a:t>Digital Wellness®  |  Content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192024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</a:rPr>
              <a:t>Step 1
Research Trends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033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C4CC"/>
                </a:solidFill>
              </a:rPr>
              <a:t>What the world is searching for right now.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</a:rPr>
              <a:t>Top 5 Trending Topics —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4CC"/>
                </a:solidFill>
              </a:rPr>
              <a:t>Ranked by content urgency, audience fit, and competitive gap.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669280" cy="17190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73152" cy="171907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96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01  GLP-1 Medications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65376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Wegovy pill now FDA-approved. Eli Lilly MFN pricing. 1 in 5 US adults used a GLP-1. Reddit flooded with questions on muscle loss, protein, what to eat. AU: TGA closed compounding loophole; high interest, limited access = high-intent diet program audience.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89888"/>
            <a:ext cx="5669280" cy="17190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89888"/>
            <a:ext cx="73152" cy="171907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4996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02  Intermittent Fasting Reversal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65376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Cochrane Review (Feb 2026): 22 RCTs, ~2,000 participants — IF produces 'little to no difference' vs. standard dieting. Live 60-day news hook. No competitor has responded with institutional authority. This is our credibility moment.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91840"/>
            <a:ext cx="5669280" cy="17190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291840"/>
            <a:ext cx="73152" cy="171907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401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03  Muscle Loss on GLP-1s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767328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Up to 40% of GLP-1 weight loss may be lean muscle. Joint advisory (ACLM, ASN, Obesity Medicine Assoc, Obesity Society) recommends 1.2–1.6g protein/kg. Only 43% of GLP-1 users meet minimum threshold. CSIRO TWD and Mayo Clinic Diet are the answer — by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291840"/>
            <a:ext cx="5669280" cy="17190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291840"/>
            <a:ext cx="73152" cy="171907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401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04  Perimenopause &amp; Menopause Weight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767328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1B+ TikTok views on #menopause. 'Perimenopause belly fat' is consistently high-volume and rising. 2026 study: postmenopausal women on tirzepatide + HRT lost significantly more weight. No competitor is serving this group with credentialed science-backed content.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193792"/>
            <a:ext cx="5669280" cy="17190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5193792"/>
            <a:ext cx="73152" cy="171907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5303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05  Gut Health &amp; Fibermaxxing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669279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'30 plants a week' is the breakout nutrition trend of early 2026. Global digestive health market: $51B+. CSIRO TWD's high-fibre, low-GI model was built on exactly this science — an opportunity to reframe an existing feature through a trending lens.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193792"/>
            <a:ext cx="5669280" cy="17190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193792"/>
            <a:ext cx="73152" cy="171907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5303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05  Gut Health &amp; Fibermaxxing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5669279"/>
            <a:ext cx="5303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'30 plants a week' is the breakout nutrition trend of early 2026. Global digestive health market: $51B+. CSIRO TWD's high-fibre, low-GI model was built on exactly this science — an opportunity to reframe an existing feature through a trending lens.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</a:rPr>
              <a:t>The GLP-1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4CC"/>
                </a:solidFill>
              </a:rPr>
              <a:t>The dominant health story of 2026 — and our highest-priority content category.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2697480" cy="141732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69748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4CC"/>
                </a:solidFill>
              </a:rPr>
              <a:t>1 in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30552"/>
            <a:ext cx="2514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US adults have
used a GLP-1 drug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417320"/>
            <a:ext cx="2697480" cy="141732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1417320"/>
            <a:ext cx="269748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5270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4CC"/>
                </a:solidFill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130552"/>
            <a:ext cx="2514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Weight lost may be
lean muscle mass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1417320"/>
            <a:ext cx="2697480" cy="141732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417320"/>
            <a:ext cx="269748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5270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4CC"/>
                </a:solidFill>
              </a:rPr>
              <a:t>43%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130552"/>
            <a:ext cx="2514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GLP-1 users meeting
min protein intake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4856" y="1417320"/>
            <a:ext cx="2697480" cy="141732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34856" y="1417320"/>
            <a:ext cx="269748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5270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4CC"/>
                </a:solidFill>
              </a:rPr>
              <a:t>1.2–1.6g/kg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130552"/>
            <a:ext cx="2514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Protein target per day
(Joint advisory, 2026)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0632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Top Questions GLP-1 Users Are Asking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01568"/>
            <a:ext cx="11247120" cy="2743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204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"What should I eat on Ozempic/Wegovy/Mounjaro?"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5204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Highest-intent GLP-1 content question online. Mayo Clinic Diet + CSIRO TWD have the science-backed answer.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69080"/>
            <a:ext cx="1124712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1422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"Will I lose muscle on Ozempic?"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14223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Rapidly growing query. Harvard Science Review feature Feb 2026. Joint advisory from 4 US medical societies.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690872"/>
            <a:ext cx="1124712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640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"How much protein do I need on weight loss medication?"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76402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Clinical, specific, actionable. Requires dietitian-level authority. Only CSIRO/Mayo Clinic can own this credibly.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312664"/>
            <a:ext cx="1124712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38581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"What happens when you stop taking Ozempic?"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38581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One of the most-searched GLP-1 questions. Positions structured programs as the sustainability layer.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</a:rPr>
              <a:t>High-Priority Keyword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4CC"/>
                </a:solidFill>
              </a:rPr>
              <a:t>Ranked by search intent, audience fit, and competitive gap.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4572000" cy="36576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72184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389888"/>
            <a:ext cx="2468880" cy="36576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9" y="147218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389888"/>
            <a:ext cx="4069080" cy="36576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472184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DW Angle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10512"/>
            <a:ext cx="457200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what to eat on ozempic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810512"/>
            <a:ext cx="246888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187451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Very high ↑ surging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810512"/>
            <a:ext cx="406908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74519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Mayo Clinic Diet Weight-Loss Medications Program; CSIRO high-protein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176272"/>
            <a:ext cx="4572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40279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muscle loss on Ozempic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176272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9" y="2240279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Rapidly rising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176272"/>
            <a:ext cx="4069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240279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Expert dietitian explainer; joint advisory protein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542032"/>
            <a:ext cx="457200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60604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best diet for weight loss over 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542032"/>
            <a:ext cx="246888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9" y="260604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Consistently 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2542032"/>
            <a:ext cx="406908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606040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CSIRO TWD 12-week; Mayo Clinic Diet; age-specific content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907792"/>
            <a:ext cx="4572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97180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perimenopause weight loss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2907792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79" y="297180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High &amp; rising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2907792"/>
            <a:ext cx="4069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2971800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CSIRO TWD; target 40–55 female audience directly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273552"/>
            <a:ext cx="457200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33756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menopause belly fat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3273552"/>
            <a:ext cx="246888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79" y="33375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Very 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3273552"/>
            <a:ext cx="406908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3337560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Age/hormone-specific content; maps to 50+ and 35–50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639312"/>
            <a:ext cx="4572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70332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intermittent fasting vs calorie counting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3639312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79" y="370332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High, controversy trending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3639312"/>
            <a:ext cx="4069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3703320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CSIRO + Mayo Clinic 'what the science says' authority content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005072"/>
            <a:ext cx="457200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06908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science-backed weight loss program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4005072"/>
            <a:ext cx="246888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2079" y="406908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Moderate, high conversion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4005072"/>
            <a:ext cx="406908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4069080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Strongest DW differentiator — only CSIRO and Mayo Clinic can own this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370832"/>
            <a:ext cx="4572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443484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GLP-1 companion program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4370832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12079" y="443484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Low volume, rising fast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4370832"/>
            <a:ext cx="4069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4434840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Category-defining opportunity — Mayo Clinic Diet already has this product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736592"/>
            <a:ext cx="457200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80060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does ozempic cause muscle loss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4736592"/>
            <a:ext cx="246888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12079" y="480060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Surging 2026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4736592"/>
            <a:ext cx="4069080" cy="34747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0" y="4800600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Mayo Clinic Diet GLP-1 program; CSIRO protein research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5102352"/>
            <a:ext cx="4572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516636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gut health and weight loss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20640" y="5102352"/>
            <a:ext cx="2468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12079" y="51663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High &amp; growing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72400" y="5102352"/>
            <a:ext cx="4069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63840" y="5166360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CSIRO TWD low-GI, high-fibre plan; evergreen content opportunity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5488" y="2743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6656" y="2743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2743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743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" y="4754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" y="4754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" y="4754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4754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4754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320" y="6766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8" y="6766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" y="6766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6766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8992" y="6766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4320" y="87782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488" y="87782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6656" y="87782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87782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8992" y="87782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75520" y="4754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76688" y="4754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77856" y="4754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79024" y="4754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80192" y="4754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75520" y="4956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76688" y="4956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77856" y="4956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79024" y="4956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80192" y="4956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75520" y="5157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76688" y="5157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7856" y="5157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79024" y="5157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80192" y="5157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875520" y="5358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6688" y="5358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77856" y="5358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79024" y="5358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80192" y="5358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1280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Digital Wellness®  |  Content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19202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Step 2
Competitor
Intelligence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703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Who is winning, how — and where the gaps are.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914400"/>
            <a:ext cx="3657600" cy="45720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[ Image 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</a:rPr>
              <a:t>Competitor Snapshot — 5 Brands Analysed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4CC"/>
                </a:solidFill>
              </a:rPr>
              <a:t>WW (Weight Watchers)  •  Noom  •  Juniper (AU)  •  Kic  •  Optislim (AU)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5669280" cy="1572768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5669280" cy="310896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43560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WW (Weight Watchers)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435608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</a:rPr>
              <a:t>★ Community UGC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755648"/>
            <a:ext cx="53766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2.9M Facebook followers. 200K TikTok. Post-bankruptcy — trust deficit with younger audiences. GLP-1 pivot failed publicly (Hype House event). No science voice. No dietitian-led content. No muscle-loss content.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669280" cy="1572768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669280" cy="310896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43560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435608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</a:rPr>
              <a:t>★ Emotional eating / behaviour psychology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755648"/>
            <a:ext cx="53766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Influencer-led strategy (90+ AI-matched micro-creators). Psychology &amp; CBT angle. Skews young — very little content for 40–55 cohort. No AU-specific content. Clinical evidence almost never cited in social content.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90672"/>
            <a:ext cx="5669280" cy="1572768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090672"/>
            <a:ext cx="5669280" cy="310896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154679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Juniper (AU)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3154679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</a:rPr>
              <a:t>★ Medical weight loss (perimenopause angle)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" y="3474720"/>
            <a:ext cx="53766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A$200M revenue (55% YoY growth). Growth via paid search + influencer UGC — not brand-channel organic. TGA-restricted: cannot name medications directly. Zero science citation. No YouTube. No protein / muscle loss content.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90672"/>
            <a:ext cx="5669280" cy="1572768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090672"/>
            <a:ext cx="5669280" cy="310896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154679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154679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</a:rPr>
              <a:t>★ Founder personal brand + anti-diet culture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474720"/>
            <a:ext cx="53766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110K TikTok. 850K+ app downloads. 100% YoY revenue growth in Jan campaign. Body-neutral — explicitly avoids weight loss framing. No science or clinical evidence. Primary audience: 25–38. The 40–55 cohort not spoken 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809744"/>
            <a:ext cx="5669280" cy="1572768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809744"/>
            <a:ext cx="5669280" cy="310896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487375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Optislim (AU)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" y="4873752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</a:rPr>
              <a:t>★ Retail pharmacy shelf 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" y="5193792"/>
            <a:ext cx="53766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25+ years. Pharmacy distribution dominance. 7K Instagram followers — significant underperformance. No TikTok. No YouTube. No expert voice. No GLP-1 content. Social is not a primary channel at all.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</a:rPr>
              <a:t>The White Space — Where No Competitor Has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4CC"/>
                </a:solidFill>
              </a:rPr>
              <a:t>None of the five competitors combine credentialed science + dietitian voice + high-protein program 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394960" cy="199339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39496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54533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Science-backed GLP-1
Support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65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WW failed its GLP-1 pivot. Juniper is TGA-restricted. Noom lacks nutrition depth. Kic avoids GLP-1 entirely. Optislim has no social presence.
Gap owner: Digital Wellness — CSIRO + Mayo Clinic dietitians with a protein-first program.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394960" cy="199339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39496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4533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Credentialed Expert
Myth-Busting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965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Only 9% of nutrition TikTok content comes from dietitians. The IF Cochrane Review is a live news hook with no institutional response yet.
Gap owner: CSIRO/Mayo Clinic dietitian to camera — the most trusted, least used format.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566160"/>
            <a:ext cx="5394960" cy="199339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566160"/>
            <a:ext cx="539496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6941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Perimenopause / Menopause
Weight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41148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1B+ TikTok views on #menopause. None of the five competitors owning this with peer-reviewed authority. Reverse Health is pursuing the audience without the science.
Gap owner: Digital Wellness — serving its own core 50+ audience in their language.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5394960" cy="1993392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566160"/>
            <a:ext cx="539496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6941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Long-Term Weight
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1148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Every competitor focuses exclusively on the loss phase. No peer-reviewed competitor data beyond 12 weeks.
Gap owner: CSIRO's unique 5-year community cohort study — the only digital health program with this length of published follow-up.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-1371600"/>
            <a:ext cx="6400800" cy="914400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-457200"/>
            <a:ext cx="6858000" cy="8229600"/>
          </a:xfrm>
          <a:prstGeom prst="ellipse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1097280"/>
            <a:ext cx="3840480" cy="438912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31089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[ Image ]</a:t>
            </a:r>
          </a:p>
        </p:txBody>
      </p:sp>
      <p:sp>
        <p:nvSpPr>
          <p:cNvPr id="7" name="Oval 6"/>
          <p:cNvSpPr/>
          <p:nvPr/>
        </p:nvSpPr>
        <p:spPr>
          <a:xfrm>
            <a:off x="11155680" y="182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56848" y="182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58015" y="182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59184" y="182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0" y="384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56848" y="384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58015" y="384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59184" y="384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0" y="585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56848" y="585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58015" y="585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59184" y="585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55680" y="786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56848" y="786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58015" y="786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759184" y="786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4CC"/>
                </a:solidFill>
              </a:rPr>
              <a:t>Digital Wellness®  |  Content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192024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</a:rPr>
              <a:t>Step 3
Video Ideas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033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C4CC"/>
                </a:solidFill>
              </a:rPr>
              <a:t>15 ranked concepts. 3 full production briefs.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3856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5568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3856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5568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3856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</a:rPr>
              <a:t>Ranked Video Concept List — Top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89611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4CC"/>
                </a:solidFill>
              </a:rPr>
              <a:t>Ordered by urgency, audience fit, and competitive gap. Full briefs produced for concepts 1–3.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13898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13898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What Should You Actually Eat on Ozempic? — The Science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1645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YouTube Shorts + TikTok + Reels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16459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E03B3B"/>
                </a:solidFill>
              </a:rPr>
              <a:t>PRIORITY: URGENT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1956816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0025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20025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GLP-1s Are Causing Muscle Loss — Here's What the Science Says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22585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TikTok + Reels + YouTube Shorts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22585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E03B3B"/>
                </a:solidFill>
              </a:rPr>
              <a:t>PRIORITY: URGENT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569464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6151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261518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Intermittent Fasting Doesn't Work — A 22-Study Review Just Proved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28712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TikTok + Reels + YouTube Shorts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28712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E03B3B"/>
                </a:solidFill>
              </a:rPr>
              <a:t>PRIORITY: URGENT — 60-DAY WINDOW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182112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2278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322783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Why Women Over 50 Lose Weight Differently — And What Science Says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" y="348386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YouTube Long-Form + Facebook + Reels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3483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009AA0"/>
                </a:solidFill>
              </a:rPr>
              <a:t>PRIORITY: 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794760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8404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" y="3840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I Asked a CSIRO Dietitian to Fix My Plate for GLP-1s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40965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Instagram Reels + TikTok + Shorts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4096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009AA0"/>
                </a:solidFill>
              </a:rPr>
              <a:t>PRIORITY: HIGH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407408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453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8" y="44531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We Tracked 50,000 Members for 5 Years — Here's What Keeps Weight Off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8" y="47091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YouTube Long-Form + Facebook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3400" y="4709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009AA0"/>
                </a:solidFill>
              </a:rPr>
              <a:t>PRIORITY: 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020056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06577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8" y="506577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The Protein Number GLP-1 Users Actually Need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" y="53218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TikTok + Instagram Reels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5321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009AA0"/>
                </a:solidFill>
              </a:rPr>
              <a:t>PRIORITY: HIGH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632704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6784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" y="56784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Perimenopause Weight Gain Is Not Your Fault (Series Pilot)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8" y="59344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TikTok + Reels + Shorts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9344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009AA0"/>
                </a:solidFill>
              </a:rPr>
              <a:t>PRIORITY: HIGH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13898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3408" y="13898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30 Plants a Week Sounds Impossible — We Built a Meal Plan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1645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Instagram Reels + Facebook + Shorts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16459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888888"/>
                </a:solidFill>
              </a:rPr>
              <a:t>PRIORITY: MEDIUM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1956816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20025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3408" y="20025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What Happens to Your Body When You Stop Taking Ozempic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93408" y="22585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YouTube Shorts + TikTok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0" y="22585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888888"/>
                </a:solidFill>
              </a:rPr>
              <a:t>PRIORITY: MEDIUM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2569464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26151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93408" y="261518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A CSIRO Dietitian Reacts to Viral Diet TikToks (Series)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93408" y="287121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TikTok + Instagram Reels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28712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888888"/>
                </a:solidFill>
              </a:rPr>
              <a:t>PRIORITY: MEDIUM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3182112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60" y="32278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93408" y="322783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Science-Backed vs. Points-Based: What 3 Million People Taught Us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93408" y="348386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Facebook + YouTube Long-Form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3483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888888"/>
                </a:solidFill>
              </a:rPr>
              <a:t>PRIORITY: MEDIUM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3794760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38404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13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3408" y="3840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The CSIRO Total Wellbeing Diet in 60 Seconds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93408" y="409651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TikTok + Reels + Shorts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41280" y="4096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888888"/>
                </a:solidFill>
              </a:rPr>
              <a:t>PRIORITY: MEDIUM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60" y="4407408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60" y="4453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93408" y="44531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Week 1 on the Mayo Clinic Diet — What You Actually Eat (Series)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93408" y="47091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YouTube Shorts + TikTok + Reels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41280" y="4709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888888"/>
                </a:solidFill>
              </a:rPr>
              <a:t>PRIORITY: MEDIUM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09360" y="5020056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09360" y="506577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93408" y="506577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Why Your Health Fund Is Now Paying for Weight Loss Programs (AU)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93408" y="53218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Facebook + Instagram Reels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41280" y="5321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888888"/>
                </a:solidFill>
              </a:rPr>
              <a:t>PRIORITY: MEDIUM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3B3B"/>
                </a:solidFill>
              </a:rPr>
              <a:t>FULL BRIEF  •  CONCEPT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</a:rPr>
              <a:t>“GLP-1s Are Causing Muscle Loss — Here’s What
the Science Says You Should Do About It”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83080"/>
            <a:ext cx="777240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892807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Platform: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892807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TikTok • Instagram Reels • YouTube Shorts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40279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Length: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240279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45–75 sec (+ 3–5 min YouTube extended cut)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877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Market: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587752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AU (CSIRO TWD) + US (Mayo Clinic Diet) — two branded variants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HOOK (0–5 sec)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18688"/>
            <a:ext cx="7772400" cy="694944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273552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“Up to 40% of weight lost on GLP-1 medications is lean muscle.”  — on screen
“If you’re on Ozempic or Mounjaro and nobody has told you this yet — you need to hear it.”  — spoken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041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VIDEO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315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Hook + stat on screen (0–5s):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Silence forces attention. No music.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645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Problem plainly stated (5–20s):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6451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Up to 40% of GLP-1 weight loss may be lean mass. Muscle = metabolism + strength.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9743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Science credential moment (20–30s):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7433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Joint advisory: 1.2–1.6g protein/kg/day. Only 43% of GLP-1 users meet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Actionable number (30–50s):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303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For 80kg person: 96–128g protein/day. Eat smarter, not more.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632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Credibility close + CTA (50–75s):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63270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[AU] CSIRO TWD link  |  [US] Mayo Clinic Diet Weight-Loss Medications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949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SCIENCE ANCHORS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969264"/>
            <a:ext cx="3611880" cy="2743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060704"/>
            <a:ext cx="3611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✓  Up to 40% of GLP-1 weight loss may be lean muscle (Harvard Science Review, Feb 2026)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682495"/>
            <a:ext cx="3611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✓  Joint advisory — ACLM, ASN, Obesity Medicine Assoc, Obesity Society (2026):
1.2–1.6g protein/kg/day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304288"/>
            <a:ext cx="3611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✓  Only 43% of GLP-1 users meeting minimum protein intake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926080"/>
            <a:ext cx="3611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✓  CSIRO TWD: higher-protein, low-GI, backed by peer-reviewed research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547872"/>
            <a:ext cx="3611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✓  Mayo Clinic Diet: dedicated Weight-Loss Medications Program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WHY THIS WILL PERFORM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4498848"/>
            <a:ext cx="3611880" cy="2743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572000"/>
            <a:ext cx="36118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Targets the #1 GLP-1 anxiety on Reddit and TikTok (muscle loss) with an answer no competitor can match at this credibility level.
WW: no science voice.
Juniper: TGA-restricted.
Noom: no nutrition depth.
Specific protein numbers drive saves — the highest-value engagement signal.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3B3B"/>
                </a:solidFill>
              </a:rPr>
              <a:t>FULL BRIEF  •  CONCEPT 03  •  TIMING IS CRITICAL — 60-DAY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</a:rPr>
              <a:t>“Intermittent Fasting Doesn’t Work — A 22-Study Review Just Proved It.
Here’s What Does.”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777240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8013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Platform: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801368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TikTok • Instagram Reels • YouTube Shorts • Facebook Reels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488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Length: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148840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45–60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963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Market: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496312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Both AU (CSIRO TWD) and US (Mayo Clinic Diet)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HOOK (0–5 sec)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154680"/>
            <a:ext cx="7772400" cy="694944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209544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ON SCREEN: “A review of 22 studies just found intermittent fasting produces little to no difference vs. regular dieting.”
SPOKEN: “If you’ve been doing intermittent fasting and wondering why you’re not getting results — science just backed you up.”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9776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VIDEO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2519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Hook + stat on screen (0–5s):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251960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Cochrane Review finding. Silence. Let the number do the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5537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What the study found (5–20s):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553712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22 RCTs, ~2,000 participants. Gold standard of evidence. 'Little to no difference.'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8554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The validation moment (20–30s):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85546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Not your willpower. The structure itself doesn't have an evidence advantage.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1572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[AU] What the science supports (30–50s):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5157216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CSIRO TWD: higher protein, low-GI — average 7.2% body weight loss in 12 weeks.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458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[US] What the science supports (30–50s):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45896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Mayo Clinic Diet: 15 evidence-based habits, not a clock. 6–10 lbs in 2 weeks.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76072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CTA (50–60s):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760720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'Ready to try something with decades of peer-reviewed research behind it?' Link in bio.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949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SCIENCE ANCHORS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969264"/>
            <a:ext cx="3611880" cy="2743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060704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✓  Cochrane Collaboration systematic review, Feb 2026
22 RCTs, ~2,000 participants
Finding: IF = 'little to no difference' vs. calorie restriction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865376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✓  CSIRO TWD: 7.2% avg body weight loss in 12 weeks
5-year community cohort evaluation (peer-reviewed)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670048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✓  Mayo Clinic Diet: 15 sustainable habits
6–10 lbs in 2 weeks
Rated in 10 of 11 US News Best Diets categories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520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PRODUCTION NOTE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767328"/>
            <a:ext cx="3611880" cy="274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840480"/>
            <a:ext cx="361188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PRODUCE THIS WEEK.
The February 2026 Cochrane Review is a live news hook. The 60-day window before news fatigue closes is already running.
Plan a companion piece in the same shoot: 'So what does the evidence say you SHOULD do instead?' — which delivers the CSIRO/Mayo Clinic framework as the direct answer.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FULL BRIEF  •  CONCEPT 04  •  SERIES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</a:rPr>
              <a:t>“Why Women Over 50 Lose Weight Differently —
And What the Science Says to Do About It”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777240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8013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Platform: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801368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YouTube Long-Form 8–12 min (primary) • Facebook/Instagram Reels (60s cut) • TikTok (45s hook)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488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Market: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148840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Both — CSIRO TWD (AU) + Mayo Clinic Diet (US)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963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4CC"/>
                </a:solidFill>
              </a:rPr>
              <a:t>Audience: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496312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Women 45–65 experiencing perimenopause/postmenopause weight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077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YOUTUBE HOOK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154680"/>
            <a:ext cx="7772400" cy="54864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209544"/>
            <a:ext cx="7452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“If you’ve been doing everything right — eating well, moving more — and still can’t shift the weight after 50, this is not a willpower problem. Your hormones have changed the rules. And most diets were never designed for that.”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82219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VIDEO STRUCTURE (YouTube 8–12 min)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096512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Hook + credential (0–1:00):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096512"/>
            <a:ext cx="4434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Dietitian to camera. 'This is the most common question I get.'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389120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Biology of perimenopause (1:00–3:30):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389120"/>
            <a:ext cx="4434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Oestrogen, visceral fat, sarcopenia, insulin sensitivity, hunger hormones.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68172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Why standard diets fail (3:30–5:30):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681728"/>
            <a:ext cx="4434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Low-cal diets accelerate muscle loss. IF worsens cortisol. Points ignore macro quality.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97433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3 evidence-backed pillars (5:30–8:30):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974336"/>
            <a:ext cx="4434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Higher protein + Low-GI eating + Structured support (Hope AI / Habit Optimizer).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26694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Real member stories (8:30–10:00):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266944"/>
            <a:ext cx="4434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Specific outcomes. Health markers. Energy. Not before/after aesthetics.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559552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GLP-1 + HRT context (10:00–11:00):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559552"/>
            <a:ext cx="4434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2026 study: tirzepatide + HRT = greater loss. [US] Weight-Loss Med Program.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852160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• CTA + comment prompt (11:00–12:00):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852160"/>
            <a:ext cx="4434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'What’s been the hardest part of managing your weight after 50? I read every comment.'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949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WHY NOW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969264"/>
            <a:ext cx="3611880" cy="2743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1060704"/>
            <a:ext cx="3611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•  1B+ TikTok views on #menopause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1536192"/>
            <a:ext cx="3611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•  No competitor serving this group with credentialed science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011680"/>
            <a:ext cx="3611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•  Reverse Health pursuing audience — without institutional authority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487168"/>
            <a:ext cx="3611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•  'Perimenopause belly fat' consistently high-volume and rising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962656"/>
            <a:ext cx="3611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•  2026 study: tirzepatide + HRT compound results for postmenopausal women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</a:rPr>
              <a:t>SERIES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3822191"/>
            <a:ext cx="3611880" cy="27432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391363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Ep 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1392" y="3913632"/>
            <a:ext cx="30815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Why women over 50 lose weight differently (THIS BRIEF)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4256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Ep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1392" y="4425696"/>
            <a:ext cx="30815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The protein number women over 50 actually need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937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Ep 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392" y="4937760"/>
            <a:ext cx="30815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Why sleep is the missing piece of midlife weight 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44982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4CC"/>
                </a:solidFill>
              </a:rPr>
              <a:t>Ep 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1392" y="5449824"/>
            <a:ext cx="30815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Exercise after menopause — what the research says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PRESENTER NOTE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6126480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Female presenter, ideally 40–55, for authentic peer credibility. Warm kitchen/home setting — not a clinic.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5488" y="2743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6656" y="2743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2743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743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" y="4754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" y="4754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" y="4754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4754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4754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320" y="6766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8" y="6766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" y="6766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6766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8992" y="6766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4320" y="87782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488" y="87782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6656" y="87782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87782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8992" y="87782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75520" y="4754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76688" y="4754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77856" y="4754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79024" y="4754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80192" y="47548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75520" y="4956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76688" y="4956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77856" y="4956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79024" y="4956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80192" y="49560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75520" y="5157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76688" y="5157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7856" y="5157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79024" y="5157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80192" y="515721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875520" y="5358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6688" y="5358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77856" y="5358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79024" y="5358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80192" y="5358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1280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Digital Wellness®  |  Podcast Strategy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19202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Podcast
Competitor
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703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5 top health podcasts. The gap Digital Wellness can own.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914400"/>
            <a:ext cx="3657600" cy="45720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[ Image 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</a:rPr>
              <a:t>5 Podcasts Analysed —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Huberman Lab  •  Feel Better Live More  •  ZOE Science &amp; Nutrition  •  The Doctor's Kitchen  •  On Purpose (Jay Shetty)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669280" cy="16002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5669280" cy="310896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4538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Huberman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45389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</a:rPr>
              <a:t>★★★★★ Science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773936"/>
            <a:ext cx="53766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8–12M downloads/month. #1 science globally. 107-min avg episodes. Science protocols + actionable takeaways per episode.
GAP: Female 45+ alienated by biohacking frame. Heavy male guest list. No program to convert listeners.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89888"/>
            <a:ext cx="5669280" cy="16002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89888"/>
            <a:ext cx="5669280" cy="310896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4538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Feel Better Live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45389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</a:rPr>
              <a:t>★★★★ Emotional warmth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773936"/>
            <a:ext cx="53766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600+ episodes. 3x/week. UK-based GP Dr. Rangan Chatterjee. Closest tone to our brand voice: 'trusted doctor who is also a good friend.'
GAP: UK-centric. Light on peer-reviewed citations. Doesn't own weight loss science.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45536"/>
            <a:ext cx="5669280" cy="16002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145536"/>
            <a:ext cx="5669280" cy="310896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20954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ZOE Science &amp; Nutrition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3209544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</a:rPr>
              <a:t>★★★★★ Credibility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" y="3529584"/>
            <a:ext cx="53766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Weekly. Tim Spector + Sarah Berry (King's College London). Uses own PREDICT programme data. Most engineered credibility of any show.
GAP: Feels like a ZOE ad. Lacks emotional resonance. Under-serves 50+ weight loss.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145536"/>
            <a:ext cx="5669280" cy="16002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145536"/>
            <a:ext cx="5669280" cy="310896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20954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The Doctor's Kitchen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209544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</a:rPr>
              <a:t>★★★★ Search 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529584"/>
            <a:ext cx="53766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500K monthly listeners. 3 bestselling cookbooks. 'Food as medicine' — recipe-forward. Numbered-list titles are the most search-optimised.
GAP: UK-rooted. Doesn't own structured weight loss. Recipe angle narrows audience.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901183"/>
            <a:ext cx="5669280" cy="16002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901183"/>
            <a:ext cx="5669280" cy="310896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496519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On Purpose (Jay Shetty)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" y="4965192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</a:rPr>
              <a:t>★★★ Mass reach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" y="5285231"/>
            <a:ext cx="53766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35M downloads/month (self-reported). #1 Mental Health on Apple. Celebrity guests drive discovery. But: clinical credibility near zero. Controversies around credential misrepresentation.
GAP: Health advice without clinical accountability. Huge reach, low rigour.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</a:rPr>
              <a:t>The Gap — And Our Podcast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4CC"/>
                </a:solidFill>
              </a:rPr>
              <a:t>No podcast combines institutional science authority + emotional warmth + structured program outcomes for women 45–65.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5669280" cy="1664208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73152" cy="166420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No science-backed podcast
for women 45–65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574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ZOE = science, no warmth, no weight focus.
Chatterjee = warmth, no peer-review rigour.
Huberman = science, male-skewed, biohacking frame.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669280" cy="1664208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73152" cy="166420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GLP-1 companion
content absent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574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Huberman covers the mechanism. Nobody serves the GLP-1 user audience with nutritional + behavioural support at scale.
Direct match: Mayo Clinic Weight-Loss Medications Program.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91840"/>
            <a:ext cx="5669280" cy="1664208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291840"/>
            <a:ext cx="73152" cy="166420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383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Long-term maintenance
not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886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Every competitor focuses on the loss phase.
Digital Wellness owns the only peer-reviewed 5-year cohort data in digital health weight loss.
This is an unoccupied, defensible territory.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291840"/>
            <a:ext cx="5669280" cy="1664208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291840"/>
            <a:ext cx="73152" cy="166420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383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Australia-specific health
content at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886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Entire science podcast field is dominated by US and UK voices.
CSIRO = Australia's most recognised scientific institution.
Zero high-credibility AU health podcasts in this tier.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230368"/>
            <a:ext cx="11365992" cy="74980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3218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OUR POSITION: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321808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“Science that actually worked for people like you.”  —  Huberman cites lab studies. ZOE cites their own research. Neither anchors that research to a listener who has already completed a programme and lost 7 kilograms in 12 weeks. Digital Wellness can.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0" y="27432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0" y="45720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38560" y="64008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5568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38560" y="82296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5568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38560" y="1005840"/>
            <a:ext cx="73152" cy="73152"/>
          </a:xfrm>
          <a:prstGeom prst="ellipse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</a:rPr>
              <a:t>Recommended Format + First 10 Episode Ideas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960120"/>
            <a:ext cx="9875520" cy="4572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960120"/>
            <a:ext cx="9875520" cy="54864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FORMAT:  35–45 min main episodes (weekly)  •  10–15 min ‘Science Explained’ shorts (biweekly)  •  Launch with 6 complete episodes  •  YouTube + Apple + Spotify simultaneously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153619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15361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</a:rPr>
              <a:t>Why Diets Work for Two Weeks and Fail for Two Years — And What CSIRO Research Shows About Lasting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" y="1883664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Directly addresses repeated diet failure while anchoring the solution in CSIRO's published research.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523744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53619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15361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</a:rPr>
              <a:t>The GLP-1 Episode: What Ozempic and Wegovy Actually Do to Your Body — And Why a Food Program Matters More Than Ever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1696" y="1883664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Mayo Clinic physician + endocrinologist. Strategic alignment with Eli Lilly PSP pipeline.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257860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25786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</a:rPr>
              <a:t>What Actually Happens Inside Your Body in the First 12 Weeks — A CSIRO Researcher Explains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2926079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Translates the 7.2% average weight loss figure into fascinating biology. Makes the data come alive.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566160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57860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1696" y="25786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</a:rPr>
              <a:t>The Truth About Protein After 50 — Why Muscle Loss Matters More Than the Number on the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11696" y="2926079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50–65 audience. Sarcopenia + protein requirements in ageing. Direct connection to CSIRO TWD's program design.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362102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" y="362102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</a:rPr>
              <a:t>A Mayo Clinic Dietitian Answers Your Biggest Questions About Eating for a Healthy Heart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" y="3968496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Leverages Mayo Clinic cardiology credibility. Connects to the Heart Health Programme product.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608576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62102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11696" y="362102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</a:rPr>
              <a:t>Menopause, Metabolism, and Weight — What the Science Says (and What No One Is Telling You)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1696" y="3968496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Most underserved topic in science-backed health podcasting. No competitor owns this with institutional credibility.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66344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" y="46634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</a:rPr>
              <a:t>How One Member Lost 11 Kilograms and Kept It Off — A Real Conversation About What the Program Feels Like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" y="501091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Unscripted member conversation. Builds relatability without sacrificing credibility.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650992"/>
            <a:ext cx="5669280" cy="18288"/>
          </a:xfrm>
          <a:prstGeom prst="rect">
            <a:avLst/>
          </a:prstGeom>
          <a:solidFill>
            <a:srgbClr val="CC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466344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11696" y="46634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</a:rPr>
              <a:t>Ultra-Processed Food: What CSIRO's Research Shows About What It's Doing to Australian Diets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11696" y="501091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Anchors the highest-engagement nutrition topic in proprietary CSIRO research.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5705855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" y="5705855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</a:rPr>
              <a:t>Blood Sugar, Energy, and Why Everything You've Been Told About Snacking May Be Wrong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" y="6053327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Prediabetes audience + general energy crash audience. Mayo Clinic physician guest.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5705855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11696" y="5705855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2937"/>
                </a:solidFill>
              </a:rPr>
              <a:t>The Long Game: What People Who Maintain Weight Loss for 5 Years Have in Common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11696" y="6053327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Uses Digital Wellness 5-year cohort data. Owns the maintenance conversation no competitor can claim.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743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743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743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743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2743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5029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5029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5029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5029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5029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17320" y="5029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4320" y="7315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" y="7315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7315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7315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8720" y="7315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17320" y="7315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4320" y="9601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" y="9601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9601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9601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88720" y="9601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17320" y="960120"/>
            <a:ext cx="82296" cy="82296"/>
          </a:xfrm>
          <a:prstGeom prst="ellipse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10058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Making better health possible 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158191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4CC"/>
                </a:solidFill>
              </a:rPr>
              <a:t>for everyone, for life.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331720"/>
            <a:ext cx="10515600" cy="36576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2514600"/>
            <a:ext cx="3566160" cy="3291840"/>
          </a:xfrm>
          <a:prstGeom prst="rect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2514600"/>
            <a:ext cx="3566160" cy="6400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26700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 now on the IF
Cochrane Review hook.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218688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The 60-day window is already running. A dietitian-to-camera response to the February 2026 study is the highest-urgency content action from this pipeline.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2514600"/>
            <a:ext cx="3566160" cy="3291840"/>
          </a:xfrm>
          <a:prstGeom prst="rect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2514600"/>
            <a:ext cx="3566160" cy="64008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26700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Own the GLP-1
companion content gap.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3218688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No competitor holds institutional authority in this space. The Mayo Clinic Diet and CSIRO TWD + Eli Lilly PSP give us the product and the science. The content needs to follow.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2514600"/>
            <a:ext cx="3566160" cy="3291840"/>
          </a:xfrm>
          <a:prstGeom prst="rect">
            <a:avLst/>
          </a:prstGeom>
          <a:solidFill>
            <a:srgbClr val="25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2514600"/>
            <a:ext cx="3566160" cy="64008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26700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Build the women's weight
science content pillar.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218688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Perimenopause and menopause weight loss is uncontested at the credentialed science level. This serves both the 50+ core and the 35–50 expansion audience simultaneously.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093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Digital Wellness®   |   www.digitalwellness.com   |   www.totalwellbeingdiet.com   |   diet.mayoclinic.org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" y="6519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Digital Wellness®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|   www.digitalwellness.com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PAGE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