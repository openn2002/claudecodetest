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200400" cy="347472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COMPETITOR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Weight Loss Brands
Social Media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10789920" cy="457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F"/>
                </a:solidFill>
              </a:rPr>
              <a:t>Brands analysed:  Weight Watchers  ·  The Man Shake  ·  Optislim  ·  FatBlaster  ·  Juniper  ·  Kic  ·  Noom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F"/>
                </a:solidFill>
              </a:rPr>
              <a:t>Platforms:  Instagram  ·  TikTok  ·  YouTube  ·  LinkedIn  ·  X / Twitter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F"/>
                </a:solidFill>
              </a:rPr>
              <a:t>Date:  8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What's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77840" cy="14173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8B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441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Brand-by-Brand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6479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Follower counts, tone, hooks, formats &amp; standout campaigns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5577840" cy="14173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441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8B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3441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Universal Hook Styles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76479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5 proven hook patterns that dominate this niche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5577840" cy="14173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900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8B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9900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Top Performing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1071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Which content formats win on which platforms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880360"/>
            <a:ext cx="5577840" cy="14173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9900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8B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9900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Tone &amp; Voice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41071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How winning brands talk to their audiences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26280"/>
            <a:ext cx="5577840" cy="14173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6360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8B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360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Content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5663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White-space opportunities no competitor owns yet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526280"/>
            <a:ext cx="5577840" cy="14173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6360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8B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6360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Actionable 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505663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</a:rPr>
              <a:t>8 specific things to do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Brand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F"/>
                </a:solidFill>
              </a:rPr>
              <a:t>Follower scale, strongest platform &amp; content maturity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94560" cy="438912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61872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1188720"/>
            <a:ext cx="2560320" cy="438912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1" y="1261872"/>
            <a:ext cx="2414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Strongest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9" y="1188720"/>
            <a:ext cx="1371600" cy="438912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85231" y="1261872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IG Followers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399" y="1188720"/>
            <a:ext cx="1188720" cy="438912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1" y="126187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TikTok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57600" cy="438912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1261872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Content Maturity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64208"/>
            <a:ext cx="219456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755648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8"/>
                </a:solidFill>
              </a:rPr>
              <a:t>Weight Watchers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39" y="1664208"/>
            <a:ext cx="256032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9191" y="1755648"/>
            <a:ext cx="2414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Facebook / Instagram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79" y="1664208"/>
            <a:ext cx="137160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1" y="175564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~2M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399" y="1664208"/>
            <a:ext cx="118872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1" y="175564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200K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664208"/>
            <a:ext cx="365760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1755648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8B"/>
                </a:solidFill>
              </a:rPr>
              <a:t>★★★★★  UGC machine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139696"/>
            <a:ext cx="219456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231136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8"/>
                </a:solidFill>
              </a:rPr>
              <a:t>Kic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39" y="2139696"/>
            <a:ext cx="256032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9191" y="2231136"/>
            <a:ext cx="2414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Instagram + Podcast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2139696"/>
            <a:ext cx="137160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1" y="2231136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640K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399" y="2139696"/>
            <a:ext cx="118872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2551" y="2231136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139696"/>
            <a:ext cx="365760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36992" y="2231136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8B"/>
                </a:solidFill>
              </a:rPr>
              <a:t>★★★★★  Best-in-class AU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615184"/>
            <a:ext cx="219456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2706624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8"/>
                </a:solidFill>
              </a:rPr>
              <a:t>Noom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39" y="2615184"/>
            <a:ext cx="256032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9191" y="2706624"/>
            <a:ext cx="2414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Instagram / TikTok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79" y="2615184"/>
            <a:ext cx="137160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85231" y="2706624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664K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399" y="2615184"/>
            <a:ext cx="118872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02551" y="2706624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2615184"/>
            <a:ext cx="365760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36992" y="2706624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8B"/>
                </a:solidFill>
              </a:rPr>
              <a:t>★★★★☆  Paid-heavy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090672"/>
            <a:ext cx="219456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3182112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8"/>
                </a:solidFill>
              </a:rPr>
              <a:t>Juniper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39" y="3090672"/>
            <a:ext cx="256032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79191" y="3182112"/>
            <a:ext cx="2414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TikTok (influencer)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79" y="3090672"/>
            <a:ext cx="137160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85231" y="3182112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19K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399" y="3090672"/>
            <a:ext cx="118872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02551" y="318211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Heavy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0" y="3090672"/>
            <a:ext cx="365760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36992" y="3182112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070"/>
                </a:solidFill>
              </a:rPr>
              <a:t>★★★★☆  GLP-1 leader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566160"/>
            <a:ext cx="219456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" y="3657600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8"/>
                </a:solidFill>
              </a:rPr>
              <a:t>The Man Shake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06039" y="3566160"/>
            <a:ext cx="256032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79191" y="3657600"/>
            <a:ext cx="2414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Facebook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79" y="3566160"/>
            <a:ext cx="137160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85231" y="3657600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23K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29399" y="3566160"/>
            <a:ext cx="118872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02551" y="3657600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475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3566160"/>
            <a:ext cx="365760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36992" y="3657600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30"/>
                </a:solidFill>
              </a:rPr>
              <a:t>★★★☆☆  Sport angle unique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041648"/>
            <a:ext cx="219456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" y="4133087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8"/>
                </a:solidFill>
              </a:rPr>
              <a:t>Optislim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06039" y="4041648"/>
            <a:ext cx="256032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79191" y="4133087"/>
            <a:ext cx="2414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Instagram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79" y="4041648"/>
            <a:ext cx="137160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85231" y="4133087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29399" y="4041648"/>
            <a:ext cx="118872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02551" y="4133087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63840" y="4041648"/>
            <a:ext cx="3657600" cy="438912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36992" y="4133087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6030"/>
                </a:solidFill>
              </a:rPr>
              <a:t>★★☆☆☆  Retail-reliant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517136"/>
            <a:ext cx="219456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8912" y="4608576"/>
            <a:ext cx="2048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8"/>
                </a:solidFill>
              </a:rPr>
              <a:t>FatBlaster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06039" y="4517136"/>
            <a:ext cx="256032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79191" y="4608576"/>
            <a:ext cx="2414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Instagram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12079" y="4517136"/>
            <a:ext cx="137160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85231" y="4608576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5.7K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29399" y="4517136"/>
            <a:ext cx="118872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02551" y="4608576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863840" y="4517136"/>
            <a:ext cx="3657600" cy="43891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36992" y="4608576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★☆☆☆☆  52 posts total!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 Hook Styles That Win in This Niche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F"/>
                </a:solidFill>
              </a:rPr>
              <a:t>Patterns that appear in every high-engagement post across all 7 brands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338560" cy="9144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64592" cy="9144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167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8B"/>
                </a:solidFill>
              </a:rPr>
              <a:t>01  Specific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1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"Lost 19kg in 5 months."  "183 lbs gone."  "10kg in 3 weeks."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7160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Precision creates believability. Vague promises scroll past.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338560" cy="9144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164592" cy="9144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8B"/>
                </a:solidFill>
              </a:rPr>
              <a:t>02  Permission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79191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"Without giving up the beers."  "No food is off-limits."  "You don't need the gym."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2316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Dissolves the #1 objection (sacrifice) before the pitch begins.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79"/>
            <a:ext cx="11338560" cy="9144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83279"/>
            <a:ext cx="164592" cy="9144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19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8B"/>
                </a:solidFill>
              </a:rPr>
              <a:t>03  Identity Shift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3075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"I don't even recognise that girl."  "I finally feel like myself."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47472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People share content that articulates how they want to feel — not just what they want to achieve.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11338560" cy="9144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164592" cy="9144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714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8B"/>
                </a:solidFill>
              </a:rPr>
              <a:t>04  Curiosity / 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8231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"Why you crave food at 11pm — the real reason."  "What GLP-1 actually does to your body."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526279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Captures high-intent search traffic on TikTok and YouTube.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486400"/>
            <a:ext cx="11338560" cy="9144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486400"/>
            <a:ext cx="164592" cy="9144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229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8B"/>
                </a:solidFill>
              </a:rPr>
              <a:t>05  Community 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3387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"Week 3 — we've hit DOUBLE DIGITS."  "Day 30 — 16 lbs down — WE DID IT."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57784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Serial structure creates narrative investment. Highest comment engagement in the niche.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Top Performing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F"/>
                </a:solidFill>
              </a:rPr>
              <a:t>Which content types win —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840480" cy="4572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71016"/>
            <a:ext cx="3694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2560320" cy="4572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1271016"/>
            <a:ext cx="2414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Platforms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188720"/>
            <a:ext cx="5486400" cy="4572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271016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Why It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384048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755648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Before/After Transformation Reels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91640"/>
            <a:ext cx="256032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75564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TikTok, Instagram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691640"/>
            <a:ext cx="548640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1755648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Visual proof in 15–30 sec. #weightlosstransformation = billions of views.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94560"/>
            <a:ext cx="384048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258568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Influencer UGC + Affiliate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194560"/>
            <a:ext cx="256032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225856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TikTok, Instagram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194560"/>
            <a:ext cx="548640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2258568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Social proof + FOMO + low-friction conversion. Juniper mastered this.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97480"/>
            <a:ext cx="384048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761488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Educational Carousels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697480"/>
            <a:ext cx="256032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276148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Instagram, LinkedIn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697480"/>
            <a:ext cx="548640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2761488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High saves = algorithm boost. Ideal for GLP-1 explainers, recipes.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00400"/>
            <a:ext cx="384048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264408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Weekly / Serial Challenge Videos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200400"/>
            <a:ext cx="256032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326440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TikTok, Instagram Reels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200400"/>
            <a:ext cx="548640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3264408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Recurring viewers, narrative investment. Man Shake AFL series = best-in-class.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03320"/>
            <a:ext cx="384048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3767328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Founder / Personality-Led Video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703320"/>
            <a:ext cx="256032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376732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Instagram, TikTok, YT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3703320"/>
            <a:ext cx="548640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2592" y="3767328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Humanises brand. KIC's Steph &amp; Laura are the AU benchmark.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206240"/>
            <a:ext cx="384048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4270248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Recipe Demo Videos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4206240"/>
            <a:ext cx="256032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0832" y="427024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YouTube, Instagram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4206240"/>
            <a:ext cx="548640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22592" y="4270248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Evergreen. High shares. Zero-point / low-cal recipes perennially popular.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709160"/>
            <a:ext cx="384048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4773168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Podcast Clips → Reels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4709160"/>
            <a:ext cx="256032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70832" y="477316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Instagram, TikTok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4709160"/>
            <a:ext cx="5486400" cy="45720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22592" y="4773168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Amplifies long-form content. KICPod is the gold standard.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212080"/>
            <a:ext cx="384048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5276088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 Feature / Tech Walkthrough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97680" y="5212080"/>
            <a:ext cx="256032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70832" y="5276088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Instagram, YouTube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5212080"/>
            <a:ext cx="5486400" cy="4572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22592" y="5276088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Drives app downloads. WW's AI food-scanner content outperforms.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Tone &amp; Voice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F"/>
                </a:solidFill>
              </a:rPr>
              <a:t>How the market splits — and where the gaps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237744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54864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8B"/>
                </a:solidFill>
              </a:rPr>
              <a:t>MEDICAL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BBF"/>
                </a:solidFill>
              </a:rPr>
              <a:t>Juniper, WW (pivoting)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39112"/>
            <a:ext cx="5212079" cy="27432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Clinical credibility + emotional safety.
Growing fastest in revenue.
GLP-1 era demands this combination.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5577840" cy="237744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557784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BODY-NEUTRAL EMPOWERMENT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BBF"/>
                </a:solidFill>
              </a:rPr>
              <a:t>Kic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39112"/>
            <a:ext cx="5212079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Anti-diet, feelings-first, inclusive.
Growing fastest in organic social.
Owned almost exclusively by Kic in AU.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5577840" cy="237744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55778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MASCULINE / SPORT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BBF"/>
                </a:solidFill>
              </a:rPr>
              <a:t>The Man Shake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99432"/>
            <a:ext cx="5212079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0916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Sport, mateship, humour.
Defensible moat — no competitor encroaches.
"Lose the gut without losing the beers."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794760"/>
            <a:ext cx="5577840" cy="237744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557784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RETAIL-CATALOGUE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BBF"/>
                </a:solidFill>
              </a:rPr>
              <a:t>Optislim, FatBlaster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599432"/>
            <a:ext cx="5212079" cy="2743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70916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1990s product-forward tone.
Doesn't translate to social.
Minimal engagement. Opportunity for disruptors.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9 Content Gaps — White Space No Competitor Owns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F"/>
                </a:solidFill>
              </a:rPr>
              <a:t>Each gap represents an underserved audience actively searching for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16459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09728" cy="16459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44168"/>
            <a:ext cx="54864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8B"/>
                </a:solidFill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550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Men's GLP-1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Man Shake has the audience. Nobody has the content. Zero AU brands target men + medication.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749039" cy="16459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109728" cy="16459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344168"/>
            <a:ext cx="54864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37160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8B"/>
                </a:solidFill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550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Weight Loss Over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11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The highest-motivated demographic. The GLP-1 audience skews older. Content ecosystem doesn't reflect this.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234440"/>
            <a:ext cx="3749039" cy="16459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234440"/>
            <a:ext cx="109728" cy="16459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1344168"/>
            <a:ext cx="54864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37160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8B"/>
                </a:solidFill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6550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GLP-1 Side Effects / Nutrition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011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Millions on Mounjaro/semaglutide need feeding guidance. Nobody owns this content niche systematically.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17520"/>
            <a:ext cx="3749039" cy="16459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017520"/>
            <a:ext cx="109728" cy="16459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127248"/>
            <a:ext cx="54864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54679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8B"/>
                </a:solidFill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4381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Postpartum Weight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79475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Kic's monopoly. Every other brand ignores new-parent women — a massive, motivated audience.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017520"/>
            <a:ext cx="3749039" cy="16459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017520"/>
            <a:ext cx="109728" cy="16459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3127248"/>
            <a:ext cx="54864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3154679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8B"/>
                </a:solidFill>
              </a:rPr>
              <a:t>#5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4381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LinkedIn / Corporate Wellness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79475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Zero competition. HR managers, EAP buyers, professionals. Unopened B2B channel for every brand here.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017520"/>
            <a:ext cx="3749039" cy="16459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3017520"/>
            <a:ext cx="109728" cy="16459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49640" y="3127248"/>
            <a:ext cx="54864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3154679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8B"/>
                </a:solidFill>
              </a:rPr>
              <a:t>#6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4381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Long-Form YouTube Education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79475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Independent creators dominate. Brands are absent. "Does X programme actually work?" — no brand answers this.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00600"/>
            <a:ext cx="3749039" cy="16459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800600"/>
            <a:ext cx="109728" cy="16459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" y="4910328"/>
            <a:ext cx="54864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3776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8B"/>
                </a:solidFill>
              </a:rPr>
              <a:t>#7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2212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Meal Prep / Batch Cooking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5778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Dominated by indie creators. No brand has a coherent weekly series. High saves + shares format.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4800600"/>
            <a:ext cx="3749039" cy="16459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43400" y="4800600"/>
            <a:ext cx="109728" cy="16459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0" y="4910328"/>
            <a:ext cx="54864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7720" y="493776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8B"/>
                </a:solidFill>
              </a:rPr>
              <a:t>#8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2212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Behind-the-Scenes Systematised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55778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Man Shake touched this. Nobody has made it a content pillar. Builds trust with supplement-sceptical audiences.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4800600"/>
            <a:ext cx="3749039" cy="16459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21040" y="4800600"/>
            <a:ext cx="109728" cy="16459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49640" y="4910328"/>
            <a:ext cx="54864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493776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8B"/>
                </a:solidFill>
              </a:rPr>
              <a:t>#9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2212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X / Twitter Thought Leadership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9640" y="55778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Abandoned by everyone. Open channel for health professionals, public health discourse, dietitian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 Actionable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7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F"/>
                </a:solidFill>
              </a:rPr>
              <a:t>Specific moves to close the gap on the leading brands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126187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8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Lead with specifics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0992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Replace every generic message with a name or number. "Sarah dropped 14kg in 10 weeks" beats "lose weight fast" every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577840" cy="126187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441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8B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Build a serial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0992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Commit to a 30–90 day recurring challenge. Man Shake's AFL format or KIC's Run Club are the blueprint. Narrative drives loyalty.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5577840" cy="126187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15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8B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Micro-influencer UGC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Partner with 20–50 AU micro-influencers (10K–100K). Give referral codes + creative freedom. 8.2% avg engagement vs 5.3% for macro.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606040"/>
            <a:ext cx="5577840" cy="126187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15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8B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GLP-1 education pillar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08152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Create content answering: 'What to eat on Mounjaro?' 'Will I lose muscle on Wegovy?' 'Can meal replacements + GLP-1 work together?'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77639"/>
            <a:ext cx="5577840" cy="126187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87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3-act transformation stories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453127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Structure: (1) Specific struggle → (2) Concrete turning point → (3) Identity shift. Write this into every content brief.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977639"/>
            <a:ext cx="5577840" cy="126187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087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0690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Optimise for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453127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Caption every post with natural search language. Instagram and TikTok are search engines. Low effort, compounds over time.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49240"/>
            <a:ext cx="5577840" cy="126187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458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440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Launch LinkedIn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824727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Post weekly targeting HR, EAP providers, health-conscious professionals. Opens B2B revenue channel no competitor is using.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349240"/>
            <a:ext cx="5577840" cy="1261872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458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440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Own YouTube education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824727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F"/>
                </a:solidFill>
              </a:rPr>
              <a:t>Weekly 8-15 min videos on questions already being searched. 'The truth about meal replacements.' 'Week X of my journey.'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Brand Deep Dives — Weight Watchers &amp; The Man Shake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534924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54864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Weight Watchers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99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8B"/>
                </a:solidFill>
              </a:rPr>
              <a:t>Community + GLP-1 pivot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8483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KEY STATS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408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IG: ~2M followers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TikTok: 200K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FB: 2.9M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#weightwatchers: 3.8M+ TikTok posts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015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TOP 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Zero Point food reveals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App / AI feature drops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Member transformation milestones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GLP-1 + WW positioning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5212080" cy="2743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STANDOUT CAMPAIGNS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8B"/>
                </a:solidFill>
              </a:rPr>
              <a:t>WW Awards · GLP-1 Companion Program · Zero Point expansions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188720"/>
            <a:ext cx="5577840" cy="534924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188720"/>
            <a:ext cx="5577840" cy="54864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The Man Shake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7099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8B"/>
                </a:solidFill>
              </a:rPr>
              <a:t>Sport + Mateship + Aussie humour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08483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KEY 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3408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IG: 23K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5968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FB: 95.9K (primary)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8529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Podcast: 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10896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TikTok: nascent (475 followers)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4015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TOP HOOKS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657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AFL/NRL team challenge weigh-ins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31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Founder sport-legend credibility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06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Celebrity kg milestones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480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Behind-the-scenes factory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800600"/>
            <a:ext cx="5212080" cy="2743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8920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STANDOUT CAMPAIGNS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166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8B"/>
                </a:solidFill>
              </a:rPr>
              <a:t>East Ulverstone Crows 60-Day Challenge · Merv Hughes campaign · Paul Roos partnership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Brand Deep Dives — Juniper &amp; Kic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534924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54864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Juniper (Eucalyptus Health)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99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8B"/>
                </a:solidFill>
              </a:rPr>
              <a:t>Medical authority + influencer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8483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KEY STATS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408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IG AU: 19K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IG UK: 21K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Eucalyptus FY25 revenue: A$248M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~A$103M marketing spend (2 yrs)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015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TOP 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"I lost 19kg in 5 months"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GLP-1 demystification (Saxenda vs Ozempic)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"I'm not gatekeeping — use code DONNA"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"Take our quiz" funnel (TGA-compliant)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5212080" cy="2743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STANDOUT CAMPAIGNS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8B"/>
                </a:solidFill>
              </a:rPr>
              <a:t>28-Day TikTok challenge via influencer net · "Patients outperform clinical trials" · Black Friday 2025 controversy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188720"/>
            <a:ext cx="5577840" cy="534924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188720"/>
            <a:ext cx="5577840" cy="54864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Kic (Keep It Cleaner)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7099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8B"/>
                </a:solidFill>
              </a:rPr>
              <a:t>Body neutrality + biggest AU organic footprint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08483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KEY 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3408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IG combined: ~640K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5968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App ecosystem: 2.5M+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8529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KICPod: top AU health podcast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10896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• Steph Claire Smith personal: ~1.5M 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4015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TOP HOOKS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657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"It's about how you feel, not how you look"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31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"Join 50,000 women in the 30-Day Run"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06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Founder vulnerability (pregnancy / mental health)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480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→ KICBUMP — physio-designed postpartum plan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800600"/>
            <a:ext cx="5212080" cy="27432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8920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F"/>
                </a:solidFill>
              </a:rPr>
              <a:t>STANDOUT CAMPAIGNS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166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8B"/>
                </a:solidFill>
              </a:rPr>
              <a:t>Run for Joy × New Balance (2025) · KICBUMP postpartum launch · KICPod cross-brand collabs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8B"/>
                </a:solidFill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The market is splitting into two winning camps:
Medical authority (Juniper, WW) vs Body-neutral empowerment (Kic).
Traditional brands (Optislim, FatBlaster) are losing relevance.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0972800" cy="36576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657600" cy="34747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657600" cy="54864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Specificity wins.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F"/>
                </a:solidFill>
              </a:rPr>
              <a:t>Names + numbers in every post. Always.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377440"/>
            <a:ext cx="3657600" cy="34747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377440"/>
            <a:ext cx="365760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GLP-1 is the mega-trend.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175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F"/>
                </a:solidFill>
              </a:rPr>
              <a:t>No brand fully owns men's GLP-1, over-50, or side-effect nutrition content.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377440"/>
            <a:ext cx="3657600" cy="3474720"/>
          </a:xfrm>
          <a:prstGeom prst="rect">
            <a:avLst/>
          </a:prstGeom>
          <a:solidFill>
            <a:srgbClr val="1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377440"/>
            <a:ext cx="3657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Serial content compounds.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30175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F"/>
                </a:solidFill>
              </a:rPr>
              <a:t>Challenge formats create narrative, loyalty, and recurring viewers.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F"/>
                </a:solidFill>
              </a:rPr>
              <a:t>Report date: 8 March 2026  ·  Brands: WW · Man Shake · Optislim · FatBlaster · Juniper · Kic · Noom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