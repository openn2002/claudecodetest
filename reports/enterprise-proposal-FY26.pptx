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20040" y="493776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493776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85800" y="493776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493776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51560" y="493776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34440" y="493776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20040" y="512064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02920" y="512064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5800" y="512064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680" y="512064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 y="512064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234440" y="512064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20040" y="530352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02920" y="530352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85800" y="530352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680" y="530352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51560" y="530352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234440" y="530352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20040" y="548640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02920" y="548640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85800" y="548640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68680" y="548640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51560" y="548640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234440" y="548640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875520" y="22860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76688" y="22860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277856" y="22860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479024" y="22860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680192" y="22860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875520" y="429768"/>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076688" y="429768"/>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77856" y="429768"/>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479024" y="429768"/>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680192" y="429768"/>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875520" y="630936"/>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076688" y="630936"/>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77856" y="630936"/>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479024" y="630936"/>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680192" y="630936"/>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411480"/>
            <a:ext cx="3200400" cy="457200"/>
          </a:xfrm>
          <a:prstGeom prst="rect">
            <a:avLst/>
          </a:prstGeom>
          <a:noFill/>
        </p:spPr>
        <p:txBody>
          <a:bodyPr wrap="square">
            <a:spAutoFit/>
          </a:bodyPr>
          <a:lstStyle/>
          <a:p>
            <a:pPr algn="l"/>
            <a:r>
              <a:rPr sz="1300" b="1" i="0">
                <a:solidFill>
                  <a:srgbClr val="1A2B47"/>
                </a:solidFill>
              </a:rPr>
              <a:t>Digital Wellness®</a:t>
            </a:r>
          </a:p>
        </p:txBody>
      </p:sp>
      <p:sp>
        <p:nvSpPr>
          <p:cNvPr id="44" name="TextBox 43"/>
          <p:cNvSpPr txBox="1"/>
          <p:nvPr/>
        </p:nvSpPr>
        <p:spPr>
          <a:xfrm>
            <a:off x="3840480" y="411480"/>
            <a:ext cx="4114800" cy="457200"/>
          </a:xfrm>
          <a:prstGeom prst="rect">
            <a:avLst/>
          </a:prstGeom>
          <a:noFill/>
        </p:spPr>
        <p:txBody>
          <a:bodyPr wrap="square">
            <a:spAutoFit/>
          </a:bodyPr>
          <a:lstStyle/>
          <a:p>
            <a:pPr algn="l"/>
            <a:r>
              <a:rPr sz="1000" b="1" i="0">
                <a:solidFill>
                  <a:srgbClr val="00C4CC"/>
                </a:solidFill>
              </a:rPr>
              <a:t>CSIRO  TOTAL WELLBEING DIET</a:t>
            </a:r>
          </a:p>
        </p:txBody>
      </p:sp>
      <p:sp>
        <p:nvSpPr>
          <p:cNvPr id="45" name="TextBox 44"/>
          <p:cNvSpPr txBox="1"/>
          <p:nvPr/>
        </p:nvSpPr>
        <p:spPr>
          <a:xfrm>
            <a:off x="502920" y="1417320"/>
            <a:ext cx="6858000" cy="914400"/>
          </a:xfrm>
          <a:prstGeom prst="rect">
            <a:avLst/>
          </a:prstGeom>
          <a:noFill/>
        </p:spPr>
        <p:txBody>
          <a:bodyPr wrap="square">
            <a:spAutoFit/>
          </a:bodyPr>
          <a:lstStyle/>
          <a:p>
            <a:pPr algn="l"/>
            <a:r>
              <a:rPr sz="4200" b="1" i="0">
                <a:solidFill>
                  <a:srgbClr val="1F2937"/>
                </a:solidFill>
              </a:rPr>
              <a:t>Enterprise Proposal</a:t>
            </a:r>
          </a:p>
        </p:txBody>
      </p:sp>
      <p:sp>
        <p:nvSpPr>
          <p:cNvPr id="46" name="TextBox 45"/>
          <p:cNvSpPr txBox="1"/>
          <p:nvPr/>
        </p:nvSpPr>
        <p:spPr>
          <a:xfrm>
            <a:off x="502920" y="2514600"/>
            <a:ext cx="6583680" cy="1005840"/>
          </a:xfrm>
          <a:prstGeom prst="rect">
            <a:avLst/>
          </a:prstGeom>
          <a:noFill/>
        </p:spPr>
        <p:txBody>
          <a:bodyPr wrap="square">
            <a:spAutoFit/>
          </a:bodyPr>
          <a:lstStyle/>
          <a:p>
            <a:pPr algn="l"/>
            <a:r>
              <a:rPr sz="1600" b="0" i="0">
                <a:solidFill>
                  <a:srgbClr val="444444"/>
                </a:solidFill>
              </a:rPr>
              <a:t>Partnering to transform weight management
and deliver a healthier tomorrow for Australia.</a:t>
            </a:r>
          </a:p>
        </p:txBody>
      </p:sp>
      <p:sp>
        <p:nvSpPr>
          <p:cNvPr id="47" name="Rectangle 46"/>
          <p:cNvSpPr/>
          <p:nvPr/>
        </p:nvSpPr>
        <p:spPr>
          <a:xfrm>
            <a:off x="502920" y="3703320"/>
            <a:ext cx="5029200" cy="36576"/>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3840480"/>
            <a:ext cx="5029200" cy="365760"/>
          </a:xfrm>
          <a:prstGeom prst="rect">
            <a:avLst/>
          </a:prstGeom>
          <a:noFill/>
        </p:spPr>
        <p:txBody>
          <a:bodyPr wrap="square">
            <a:spAutoFit/>
          </a:bodyPr>
          <a:lstStyle/>
          <a:p>
            <a:pPr algn="l"/>
            <a:r>
              <a:rPr sz="1200" b="0" i="0">
                <a:solidFill>
                  <a:srgbClr val="444444"/>
                </a:solidFill>
              </a:rPr>
              <a:t>Prepared for:  [Partner Name]</a:t>
            </a:r>
          </a:p>
        </p:txBody>
      </p:sp>
      <p:sp>
        <p:nvSpPr>
          <p:cNvPr id="49" name="TextBox 48"/>
          <p:cNvSpPr txBox="1"/>
          <p:nvPr/>
        </p:nvSpPr>
        <p:spPr>
          <a:xfrm>
            <a:off x="502920" y="4251960"/>
            <a:ext cx="5029200" cy="365760"/>
          </a:xfrm>
          <a:prstGeom prst="rect">
            <a:avLst/>
          </a:prstGeom>
          <a:noFill/>
        </p:spPr>
        <p:txBody>
          <a:bodyPr wrap="square">
            <a:spAutoFit/>
          </a:bodyPr>
          <a:lstStyle/>
          <a:p>
            <a:pPr algn="l"/>
            <a:r>
              <a:rPr sz="1200" b="0" i="0">
                <a:solidFill>
                  <a:srgbClr val="888888"/>
                </a:solidFill>
              </a:rPr>
              <a:t>Date:  March 2026</a:t>
            </a:r>
          </a:p>
        </p:txBody>
      </p:sp>
      <p:sp>
        <p:nvSpPr>
          <p:cNvPr id="50" name="Rectangle 49"/>
          <p:cNvSpPr/>
          <p:nvPr/>
        </p:nvSpPr>
        <p:spPr>
          <a:xfrm>
            <a:off x="7498079" y="457200"/>
            <a:ext cx="4389120" cy="57607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44000" y="3154679"/>
            <a:ext cx="1097280" cy="365760"/>
          </a:xfrm>
          <a:prstGeom prst="rect">
            <a:avLst/>
          </a:prstGeom>
          <a:noFill/>
        </p:spPr>
        <p:txBody>
          <a:bodyPr wrap="square">
            <a:spAutoFit/>
          </a:bodyPr>
          <a:lstStyle/>
          <a:p>
            <a:pPr algn="ctr"/>
            <a:r>
              <a:rPr sz="900" b="0" i="0">
                <a:solidFill>
                  <a:srgbClr val="888888"/>
                </a:solidFill>
              </a:rPr>
              <a:t>[ Hero image ]</a:t>
            </a:r>
          </a:p>
        </p:txBody>
      </p:sp>
      <p:sp>
        <p:nvSpPr>
          <p:cNvPr id="52" name="Rectangle 51"/>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54" name="TextBox 53"/>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55" name="TextBox 54"/>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789920" y="27432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0" y="27432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155680" y="27432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338560" y="27432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789920" y="45720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972800" y="45720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155680" y="45720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0" y="45720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89920" y="64008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972800" y="64008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155680" y="64008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338560" y="64008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789920" y="82296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972800" y="82296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155680" y="82296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338560" y="82296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789920" y="100584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972800" y="100584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155680" y="100584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338560" y="1005840"/>
            <a:ext cx="73152" cy="73152"/>
          </a:xfrm>
          <a:prstGeom prst="ellipse">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411480"/>
            <a:ext cx="6400800" cy="594360"/>
          </a:xfrm>
          <a:prstGeom prst="rect">
            <a:avLst/>
          </a:prstGeom>
          <a:noFill/>
        </p:spPr>
        <p:txBody>
          <a:bodyPr wrap="square">
            <a:spAutoFit/>
          </a:bodyPr>
          <a:lstStyle/>
          <a:p>
            <a:pPr algn="l"/>
            <a:r>
              <a:rPr sz="2600" b="1" i="0">
                <a:solidFill>
                  <a:srgbClr val="1F2937"/>
                </a:solidFill>
              </a:rPr>
              <a:t>Table of Contents</a:t>
            </a:r>
          </a:p>
        </p:txBody>
      </p:sp>
      <p:sp>
        <p:nvSpPr>
          <p:cNvPr id="24" name="TextBox 23"/>
          <p:cNvSpPr txBox="1"/>
          <p:nvPr/>
        </p:nvSpPr>
        <p:spPr>
          <a:xfrm>
            <a:off x="502920" y="1234440"/>
            <a:ext cx="502920" cy="347472"/>
          </a:xfrm>
          <a:prstGeom prst="rect">
            <a:avLst/>
          </a:prstGeom>
          <a:noFill/>
        </p:spPr>
        <p:txBody>
          <a:bodyPr wrap="square">
            <a:spAutoFit/>
          </a:bodyPr>
          <a:lstStyle/>
          <a:p>
            <a:pPr algn="l"/>
            <a:r>
              <a:rPr sz="1600" b="1" i="0">
                <a:solidFill>
                  <a:srgbClr val="00C4CC"/>
                </a:solidFill>
              </a:rPr>
              <a:t>01</a:t>
            </a:r>
          </a:p>
        </p:txBody>
      </p:sp>
      <p:sp>
        <p:nvSpPr>
          <p:cNvPr id="25" name="TextBox 24"/>
          <p:cNvSpPr txBox="1"/>
          <p:nvPr/>
        </p:nvSpPr>
        <p:spPr>
          <a:xfrm>
            <a:off x="1051560" y="1271016"/>
            <a:ext cx="5943600" cy="320040"/>
          </a:xfrm>
          <a:prstGeom prst="rect">
            <a:avLst/>
          </a:prstGeom>
          <a:noFill/>
        </p:spPr>
        <p:txBody>
          <a:bodyPr wrap="square">
            <a:spAutoFit/>
          </a:bodyPr>
          <a:lstStyle/>
          <a:p>
            <a:pPr algn="l"/>
            <a:r>
              <a:rPr sz="1300" b="0" i="0">
                <a:solidFill>
                  <a:srgbClr val="1F2937"/>
                </a:solidFill>
              </a:rPr>
              <a:t>About Us</a:t>
            </a:r>
          </a:p>
        </p:txBody>
      </p:sp>
      <p:sp>
        <p:nvSpPr>
          <p:cNvPr id="26" name="Rectangle 25"/>
          <p:cNvSpPr/>
          <p:nvPr/>
        </p:nvSpPr>
        <p:spPr>
          <a:xfrm>
            <a:off x="502920" y="1618488"/>
            <a:ext cx="6492240" cy="18288"/>
          </a:xfrm>
          <a:prstGeom prst="rect">
            <a:avLst/>
          </a:prstGeom>
          <a:solidFill>
            <a:srgbClr val="CC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2057400"/>
            <a:ext cx="502920" cy="347472"/>
          </a:xfrm>
          <a:prstGeom prst="rect">
            <a:avLst/>
          </a:prstGeom>
          <a:noFill/>
        </p:spPr>
        <p:txBody>
          <a:bodyPr wrap="square">
            <a:spAutoFit/>
          </a:bodyPr>
          <a:lstStyle/>
          <a:p>
            <a:pPr algn="l"/>
            <a:r>
              <a:rPr sz="1600" b="1" i="0">
                <a:solidFill>
                  <a:srgbClr val="00C4CC"/>
                </a:solidFill>
              </a:rPr>
              <a:t>02</a:t>
            </a:r>
          </a:p>
        </p:txBody>
      </p:sp>
      <p:sp>
        <p:nvSpPr>
          <p:cNvPr id="28" name="TextBox 27"/>
          <p:cNvSpPr txBox="1"/>
          <p:nvPr/>
        </p:nvSpPr>
        <p:spPr>
          <a:xfrm>
            <a:off x="1051560" y="2093976"/>
            <a:ext cx="5943600" cy="320040"/>
          </a:xfrm>
          <a:prstGeom prst="rect">
            <a:avLst/>
          </a:prstGeom>
          <a:noFill/>
        </p:spPr>
        <p:txBody>
          <a:bodyPr wrap="square">
            <a:spAutoFit/>
          </a:bodyPr>
          <a:lstStyle/>
          <a:p>
            <a:pPr algn="l"/>
            <a:r>
              <a:rPr sz="1300" b="0" i="0">
                <a:solidFill>
                  <a:srgbClr val="1F2937"/>
                </a:solidFill>
              </a:rPr>
              <a:t>The CSIRO Total Wellbeing Diet</a:t>
            </a:r>
          </a:p>
        </p:txBody>
      </p:sp>
      <p:sp>
        <p:nvSpPr>
          <p:cNvPr id="29" name="Rectangle 28"/>
          <p:cNvSpPr/>
          <p:nvPr/>
        </p:nvSpPr>
        <p:spPr>
          <a:xfrm>
            <a:off x="502920" y="2441448"/>
            <a:ext cx="6492240" cy="18288"/>
          </a:xfrm>
          <a:prstGeom prst="rect">
            <a:avLst/>
          </a:prstGeom>
          <a:solidFill>
            <a:srgbClr val="CC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2880360"/>
            <a:ext cx="502920" cy="347472"/>
          </a:xfrm>
          <a:prstGeom prst="rect">
            <a:avLst/>
          </a:prstGeom>
          <a:noFill/>
        </p:spPr>
        <p:txBody>
          <a:bodyPr wrap="square">
            <a:spAutoFit/>
          </a:bodyPr>
          <a:lstStyle/>
          <a:p>
            <a:pPr algn="l"/>
            <a:r>
              <a:rPr sz="1600" b="1" i="0">
                <a:solidFill>
                  <a:srgbClr val="00C4CC"/>
                </a:solidFill>
              </a:rPr>
              <a:t>03</a:t>
            </a:r>
          </a:p>
        </p:txBody>
      </p:sp>
      <p:sp>
        <p:nvSpPr>
          <p:cNvPr id="31" name="TextBox 30"/>
          <p:cNvSpPr txBox="1"/>
          <p:nvPr/>
        </p:nvSpPr>
        <p:spPr>
          <a:xfrm>
            <a:off x="1051560" y="2916936"/>
            <a:ext cx="5943600" cy="320040"/>
          </a:xfrm>
          <a:prstGeom prst="rect">
            <a:avLst/>
          </a:prstGeom>
          <a:noFill/>
        </p:spPr>
        <p:txBody>
          <a:bodyPr wrap="square">
            <a:spAutoFit/>
          </a:bodyPr>
          <a:lstStyle/>
          <a:p>
            <a:pPr algn="l"/>
            <a:r>
              <a:rPr sz="1300" b="0" i="0">
                <a:solidFill>
                  <a:srgbClr val="1F2937"/>
                </a:solidFill>
              </a:rPr>
              <a:t>How We Work With Partners</a:t>
            </a:r>
          </a:p>
        </p:txBody>
      </p:sp>
      <p:sp>
        <p:nvSpPr>
          <p:cNvPr id="32" name="Rectangle 31"/>
          <p:cNvSpPr/>
          <p:nvPr/>
        </p:nvSpPr>
        <p:spPr>
          <a:xfrm>
            <a:off x="502920" y="3264408"/>
            <a:ext cx="6492240" cy="18288"/>
          </a:xfrm>
          <a:prstGeom prst="rect">
            <a:avLst/>
          </a:prstGeom>
          <a:solidFill>
            <a:srgbClr val="CC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3703320"/>
            <a:ext cx="502920" cy="347472"/>
          </a:xfrm>
          <a:prstGeom prst="rect">
            <a:avLst/>
          </a:prstGeom>
          <a:noFill/>
        </p:spPr>
        <p:txBody>
          <a:bodyPr wrap="square">
            <a:spAutoFit/>
          </a:bodyPr>
          <a:lstStyle/>
          <a:p>
            <a:pPr algn="l"/>
            <a:r>
              <a:rPr sz="1600" b="1" i="0">
                <a:solidFill>
                  <a:srgbClr val="00C4CC"/>
                </a:solidFill>
              </a:rPr>
              <a:t>04</a:t>
            </a:r>
          </a:p>
        </p:txBody>
      </p:sp>
      <p:sp>
        <p:nvSpPr>
          <p:cNvPr id="34" name="TextBox 33"/>
          <p:cNvSpPr txBox="1"/>
          <p:nvPr/>
        </p:nvSpPr>
        <p:spPr>
          <a:xfrm>
            <a:off x="1051560" y="3739896"/>
            <a:ext cx="5943600" cy="320040"/>
          </a:xfrm>
          <a:prstGeom prst="rect">
            <a:avLst/>
          </a:prstGeom>
          <a:noFill/>
        </p:spPr>
        <p:txBody>
          <a:bodyPr wrap="square">
            <a:spAutoFit/>
          </a:bodyPr>
          <a:lstStyle/>
          <a:p>
            <a:pPr algn="l"/>
            <a:r>
              <a:rPr sz="1300" b="0" i="0">
                <a:solidFill>
                  <a:srgbClr val="1F2937"/>
                </a:solidFill>
              </a:rPr>
              <a:t>More Information</a:t>
            </a:r>
          </a:p>
        </p:txBody>
      </p:sp>
      <p:sp>
        <p:nvSpPr>
          <p:cNvPr id="35" name="Rectangle 34"/>
          <p:cNvSpPr/>
          <p:nvPr/>
        </p:nvSpPr>
        <p:spPr>
          <a:xfrm>
            <a:off x="502920" y="4087368"/>
            <a:ext cx="6492240" cy="18288"/>
          </a:xfrm>
          <a:prstGeom prst="rect">
            <a:avLst/>
          </a:prstGeom>
          <a:solidFill>
            <a:srgbClr val="CCD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15200" y="822960"/>
            <a:ext cx="4389120" cy="53035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0" y="3291839"/>
            <a:ext cx="1097280" cy="365760"/>
          </a:xfrm>
          <a:prstGeom prst="rect">
            <a:avLst/>
          </a:prstGeom>
          <a:noFill/>
        </p:spPr>
        <p:txBody>
          <a:bodyPr wrap="square">
            <a:spAutoFit/>
          </a:bodyPr>
          <a:lstStyle/>
          <a:p>
            <a:pPr algn="ctr"/>
            <a:r>
              <a:rPr sz="900" b="0" i="0">
                <a:solidFill>
                  <a:srgbClr val="888888"/>
                </a:solidFill>
              </a:rPr>
              <a:t>[ Photo ]</a:t>
            </a:r>
          </a:p>
        </p:txBody>
      </p:sp>
      <p:sp>
        <p:nvSpPr>
          <p:cNvPr id="38" name="Rectangle 37"/>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40" name="TextBox 39"/>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41" name="TextBox 40"/>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0" y="-1371600"/>
            <a:ext cx="6400800" cy="9144000"/>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217920" y="-457200"/>
            <a:ext cx="6858000" cy="8229600"/>
          </a:xfrm>
          <a:prstGeom prst="ellipse">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80960" y="1097280"/>
            <a:ext cx="3840480" cy="43891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52560" y="3108959"/>
            <a:ext cx="1097280" cy="365760"/>
          </a:xfrm>
          <a:prstGeom prst="rect">
            <a:avLst/>
          </a:prstGeom>
          <a:noFill/>
        </p:spPr>
        <p:txBody>
          <a:bodyPr wrap="square">
            <a:spAutoFit/>
          </a:bodyPr>
          <a:lstStyle/>
          <a:p>
            <a:pPr algn="ctr"/>
            <a:r>
              <a:rPr sz="900" b="0" i="0">
                <a:solidFill>
                  <a:srgbClr val="888888"/>
                </a:solidFill>
              </a:rPr>
              <a:t>[ Image ]</a:t>
            </a:r>
          </a:p>
        </p:txBody>
      </p:sp>
      <p:sp>
        <p:nvSpPr>
          <p:cNvPr id="7" name="Oval 6"/>
          <p:cNvSpPr/>
          <p:nvPr/>
        </p:nvSpPr>
        <p:spPr>
          <a:xfrm>
            <a:off x="11155680" y="182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56848" y="182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58015" y="182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759184" y="182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155680" y="384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356848" y="384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558015" y="384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759184" y="384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155680" y="585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356848" y="585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558015" y="585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59184" y="585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155680" y="786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356848" y="786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558015" y="786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759184" y="786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1371600"/>
            <a:ext cx="5486400" cy="411480"/>
          </a:xfrm>
          <a:prstGeom prst="rect">
            <a:avLst/>
          </a:prstGeom>
          <a:noFill/>
        </p:spPr>
        <p:txBody>
          <a:bodyPr wrap="square">
            <a:spAutoFit/>
          </a:bodyPr>
          <a:lstStyle/>
          <a:p>
            <a:pPr algn="l"/>
            <a:r>
              <a:rPr sz="1100" b="1" i="0">
                <a:solidFill>
                  <a:srgbClr val="00C4CC"/>
                </a:solidFill>
              </a:rPr>
              <a:t>Digital Wellness®</a:t>
            </a:r>
          </a:p>
        </p:txBody>
      </p:sp>
      <p:sp>
        <p:nvSpPr>
          <p:cNvPr id="24" name="TextBox 23"/>
          <p:cNvSpPr txBox="1"/>
          <p:nvPr/>
        </p:nvSpPr>
        <p:spPr>
          <a:xfrm>
            <a:off x="548640" y="1920240"/>
            <a:ext cx="5943600" cy="1645920"/>
          </a:xfrm>
          <a:prstGeom prst="rect">
            <a:avLst/>
          </a:prstGeom>
          <a:noFill/>
        </p:spPr>
        <p:txBody>
          <a:bodyPr wrap="square">
            <a:spAutoFit/>
          </a:bodyPr>
          <a:lstStyle/>
          <a:p>
            <a:pPr algn="l"/>
            <a:r>
              <a:rPr sz="3600" b="1" i="0">
                <a:solidFill>
                  <a:srgbClr val="1F2937"/>
                </a:solidFill>
              </a:rPr>
              <a:t>About Us</a:t>
            </a:r>
          </a:p>
        </p:txBody>
      </p:sp>
      <p:sp>
        <p:nvSpPr>
          <p:cNvPr id="25" name="TextBox 24"/>
          <p:cNvSpPr txBox="1"/>
          <p:nvPr/>
        </p:nvSpPr>
        <p:spPr>
          <a:xfrm>
            <a:off x="548640" y="3703320"/>
            <a:ext cx="5943600" cy="502920"/>
          </a:xfrm>
          <a:prstGeom prst="rect">
            <a:avLst/>
          </a:prstGeom>
          <a:noFill/>
        </p:spPr>
        <p:txBody>
          <a:bodyPr wrap="square">
            <a:spAutoFit/>
          </a:bodyPr>
          <a:lstStyle/>
          <a:p>
            <a:pPr algn="l"/>
            <a:r>
              <a:rPr sz="1500" b="0" i="0">
                <a:solidFill>
                  <a:srgbClr val="00C4CC"/>
                </a:solidFill>
              </a:rPr>
              <a:t>Making better health possible — for everyone, for life.</a:t>
            </a:r>
          </a:p>
        </p:txBody>
      </p:sp>
      <p:sp>
        <p:nvSpPr>
          <p:cNvPr id="26" name="Rectangle 25"/>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28" name="TextBox 27"/>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29" name="TextBox 28"/>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8229600" cy="594360"/>
          </a:xfrm>
          <a:prstGeom prst="rect">
            <a:avLst/>
          </a:prstGeom>
          <a:noFill/>
        </p:spPr>
        <p:txBody>
          <a:bodyPr wrap="square">
            <a:spAutoFit/>
          </a:bodyPr>
          <a:lstStyle/>
          <a:p>
            <a:pPr algn="l"/>
            <a:r>
              <a:rPr sz="2400" b="1" i="0">
                <a:solidFill>
                  <a:srgbClr val="1F2937"/>
                </a:solidFill>
              </a:rPr>
              <a:t>We know nutrition, and we know health.</a:t>
            </a:r>
          </a:p>
        </p:txBody>
      </p:sp>
      <p:sp>
        <p:nvSpPr>
          <p:cNvPr id="4" name="TextBox 3"/>
          <p:cNvSpPr txBox="1"/>
          <p:nvPr/>
        </p:nvSpPr>
        <p:spPr>
          <a:xfrm>
            <a:off x="502920" y="960120"/>
            <a:ext cx="8229600" cy="411480"/>
          </a:xfrm>
          <a:prstGeom prst="rect">
            <a:avLst/>
          </a:prstGeom>
          <a:noFill/>
        </p:spPr>
        <p:txBody>
          <a:bodyPr wrap="square">
            <a:spAutoFit/>
          </a:bodyPr>
          <a:lstStyle/>
          <a:p>
            <a:pPr algn="l"/>
            <a:r>
              <a:rPr sz="1600" b="0" i="0">
                <a:solidFill>
                  <a:srgbClr val="00C4CC"/>
                </a:solidFill>
              </a:rPr>
              <a:t>It's in our DNA.</a:t>
            </a:r>
          </a:p>
        </p:txBody>
      </p:sp>
      <p:sp>
        <p:nvSpPr>
          <p:cNvPr id="5" name="TextBox 4"/>
          <p:cNvSpPr txBox="1"/>
          <p:nvPr/>
        </p:nvSpPr>
        <p:spPr>
          <a:xfrm>
            <a:off x="502920" y="1508760"/>
            <a:ext cx="7132320" cy="2560320"/>
          </a:xfrm>
          <a:prstGeom prst="rect">
            <a:avLst/>
          </a:prstGeom>
          <a:noFill/>
        </p:spPr>
        <p:txBody>
          <a:bodyPr wrap="square">
            <a:spAutoFit/>
          </a:bodyPr>
          <a:lstStyle/>
          <a:p>
            <a:pPr algn="l"/>
            <a:r>
              <a:rPr sz="1100" b="0" i="0">
                <a:solidFill>
                  <a:srgbClr val="444444"/>
                </a:solidFill>
              </a:rPr>
              <a:t>Digital Wellness was founded in 2006 by Scott Penn, building on three generations of innovation in weight management and preventive health. From pioneering Australia's weight loss market in the 1980s to transforming Weight Watchers AU/NZ into the most successful global unit in the 1990s, the Penn family has a long-standing legacy of health leadership.
Today, Digital Wellness powers two of the world's most credible, science-backed digital health programs — the CSIRO Total Wellbeing Diet in Australia and the Mayo Clinic Diet in the United States — and has positively impacted more than 3 million lives.</a:t>
            </a:r>
          </a:p>
        </p:txBody>
      </p:sp>
      <p:sp>
        <p:nvSpPr>
          <p:cNvPr id="6" name="Rectangle 5"/>
          <p:cNvSpPr/>
          <p:nvPr/>
        </p:nvSpPr>
        <p:spPr>
          <a:xfrm>
            <a:off x="502920" y="4343400"/>
            <a:ext cx="2194560" cy="150876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4462272"/>
            <a:ext cx="2011680" cy="594360"/>
          </a:xfrm>
          <a:prstGeom prst="rect">
            <a:avLst/>
          </a:prstGeom>
          <a:noFill/>
        </p:spPr>
        <p:txBody>
          <a:bodyPr wrap="square">
            <a:spAutoFit/>
          </a:bodyPr>
          <a:lstStyle/>
          <a:p>
            <a:pPr algn="ctr"/>
            <a:r>
              <a:rPr sz="3000" b="1" i="0">
                <a:solidFill>
                  <a:srgbClr val="00C4CC"/>
                </a:solidFill>
              </a:rPr>
              <a:t>3M+</a:t>
            </a:r>
          </a:p>
        </p:txBody>
      </p:sp>
      <p:sp>
        <p:nvSpPr>
          <p:cNvPr id="8" name="TextBox 7"/>
          <p:cNvSpPr txBox="1"/>
          <p:nvPr/>
        </p:nvSpPr>
        <p:spPr>
          <a:xfrm>
            <a:off x="594360" y="5047488"/>
            <a:ext cx="2011680" cy="658368"/>
          </a:xfrm>
          <a:prstGeom prst="rect">
            <a:avLst/>
          </a:prstGeom>
          <a:noFill/>
        </p:spPr>
        <p:txBody>
          <a:bodyPr wrap="square">
            <a:spAutoFit/>
          </a:bodyPr>
          <a:lstStyle/>
          <a:p>
            <a:pPr algn="ctr"/>
            <a:r>
              <a:rPr sz="1000" b="0" i="0">
                <a:solidFill>
                  <a:srgbClr val="444444"/>
                </a:solidFill>
              </a:rPr>
              <a:t>Lives positively
impacted</a:t>
            </a:r>
          </a:p>
        </p:txBody>
      </p:sp>
      <p:sp>
        <p:nvSpPr>
          <p:cNvPr id="9" name="Rectangle 8"/>
          <p:cNvSpPr/>
          <p:nvPr/>
        </p:nvSpPr>
        <p:spPr>
          <a:xfrm>
            <a:off x="2926080" y="4343400"/>
            <a:ext cx="2194560" cy="150876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4462272"/>
            <a:ext cx="2011680" cy="594360"/>
          </a:xfrm>
          <a:prstGeom prst="rect">
            <a:avLst/>
          </a:prstGeom>
          <a:noFill/>
        </p:spPr>
        <p:txBody>
          <a:bodyPr wrap="square">
            <a:spAutoFit/>
          </a:bodyPr>
          <a:lstStyle/>
          <a:p>
            <a:pPr algn="ctr"/>
            <a:r>
              <a:rPr sz="3000" b="1" i="0">
                <a:solidFill>
                  <a:srgbClr val="00C4CC"/>
                </a:solidFill>
              </a:rPr>
              <a:t>15+</a:t>
            </a:r>
          </a:p>
        </p:txBody>
      </p:sp>
      <p:sp>
        <p:nvSpPr>
          <p:cNvPr id="11" name="TextBox 10"/>
          <p:cNvSpPr txBox="1"/>
          <p:nvPr/>
        </p:nvSpPr>
        <p:spPr>
          <a:xfrm>
            <a:off x="3017520" y="5047488"/>
            <a:ext cx="2011680" cy="658368"/>
          </a:xfrm>
          <a:prstGeom prst="rect">
            <a:avLst/>
          </a:prstGeom>
          <a:noFill/>
        </p:spPr>
        <p:txBody>
          <a:bodyPr wrap="square">
            <a:spAutoFit/>
          </a:bodyPr>
          <a:lstStyle/>
          <a:p>
            <a:pPr algn="ctr"/>
            <a:r>
              <a:rPr sz="1000" b="0" i="0">
                <a:solidFill>
                  <a:srgbClr val="444444"/>
                </a:solidFill>
              </a:rPr>
              <a:t>Years of digital
health innovation</a:t>
            </a:r>
          </a:p>
        </p:txBody>
      </p:sp>
      <p:sp>
        <p:nvSpPr>
          <p:cNvPr id="12" name="Rectangle 11"/>
          <p:cNvSpPr/>
          <p:nvPr/>
        </p:nvSpPr>
        <p:spPr>
          <a:xfrm>
            <a:off x="5349240" y="4343400"/>
            <a:ext cx="2194560" cy="150876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40679" y="4462272"/>
            <a:ext cx="2011680" cy="594360"/>
          </a:xfrm>
          <a:prstGeom prst="rect">
            <a:avLst/>
          </a:prstGeom>
          <a:noFill/>
        </p:spPr>
        <p:txBody>
          <a:bodyPr wrap="square">
            <a:spAutoFit/>
          </a:bodyPr>
          <a:lstStyle/>
          <a:p>
            <a:pPr algn="ctr"/>
            <a:r>
              <a:rPr sz="3000" b="1" i="0">
                <a:solidFill>
                  <a:srgbClr val="00C4CC"/>
                </a:solidFill>
              </a:rPr>
              <a:t>1.2M</a:t>
            </a:r>
          </a:p>
        </p:txBody>
      </p:sp>
      <p:sp>
        <p:nvSpPr>
          <p:cNvPr id="14" name="TextBox 13"/>
          <p:cNvSpPr txBox="1"/>
          <p:nvPr/>
        </p:nvSpPr>
        <p:spPr>
          <a:xfrm>
            <a:off x="5440679" y="5047488"/>
            <a:ext cx="2011680" cy="658368"/>
          </a:xfrm>
          <a:prstGeom prst="rect">
            <a:avLst/>
          </a:prstGeom>
          <a:noFill/>
        </p:spPr>
        <p:txBody>
          <a:bodyPr wrap="square">
            <a:spAutoFit/>
          </a:bodyPr>
          <a:lstStyle/>
          <a:p>
            <a:pPr algn="ctr"/>
            <a:r>
              <a:rPr sz="1000" b="0" i="0">
                <a:solidFill>
                  <a:srgbClr val="444444"/>
                </a:solidFill>
              </a:rPr>
              <a:t>Australians
impacted</a:t>
            </a:r>
          </a:p>
        </p:txBody>
      </p:sp>
      <p:sp>
        <p:nvSpPr>
          <p:cNvPr id="15" name="Rectangle 14"/>
          <p:cNvSpPr/>
          <p:nvPr/>
        </p:nvSpPr>
        <p:spPr>
          <a:xfrm>
            <a:off x="8229600" y="914400"/>
            <a:ext cx="3566160" cy="493776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4040" y="3200400"/>
            <a:ext cx="1097280" cy="365760"/>
          </a:xfrm>
          <a:prstGeom prst="rect">
            <a:avLst/>
          </a:prstGeom>
          <a:noFill/>
        </p:spPr>
        <p:txBody>
          <a:bodyPr wrap="square">
            <a:spAutoFit/>
          </a:bodyPr>
          <a:lstStyle/>
          <a:p>
            <a:pPr algn="ctr"/>
            <a:r>
              <a:rPr sz="900" b="0" i="0">
                <a:solidFill>
                  <a:srgbClr val="888888"/>
                </a:solidFill>
              </a:rPr>
              <a:t>[ Founder / team photo ]</a:t>
            </a:r>
          </a:p>
        </p:txBody>
      </p:sp>
      <p:sp>
        <p:nvSpPr>
          <p:cNvPr id="17" name="Rectangle 16"/>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19" name="TextBox 18"/>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20" name="TextBox 19"/>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48640"/>
          </a:xfrm>
          <a:prstGeom prst="rect">
            <a:avLst/>
          </a:prstGeom>
          <a:noFill/>
        </p:spPr>
        <p:txBody>
          <a:bodyPr wrap="square">
            <a:spAutoFit/>
          </a:bodyPr>
          <a:lstStyle/>
          <a:p>
            <a:pPr algn="l"/>
            <a:r>
              <a:rPr sz="2400" b="1" i="0">
                <a:solidFill>
                  <a:srgbClr val="1F2937"/>
                </a:solidFill>
              </a:rPr>
              <a:t>What sets our solutions apart</a:t>
            </a:r>
          </a:p>
        </p:txBody>
      </p:sp>
      <p:sp>
        <p:nvSpPr>
          <p:cNvPr id="4" name="TextBox 3"/>
          <p:cNvSpPr txBox="1"/>
          <p:nvPr/>
        </p:nvSpPr>
        <p:spPr>
          <a:xfrm>
            <a:off x="502920" y="896112"/>
            <a:ext cx="10972800" cy="347472"/>
          </a:xfrm>
          <a:prstGeom prst="rect">
            <a:avLst/>
          </a:prstGeom>
          <a:noFill/>
        </p:spPr>
        <p:txBody>
          <a:bodyPr wrap="square">
            <a:spAutoFit/>
          </a:bodyPr>
          <a:lstStyle/>
          <a:p>
            <a:pPr algn="l"/>
            <a:r>
              <a:rPr sz="1200" b="0" i="0">
                <a:solidFill>
                  <a:srgbClr val="00C4CC"/>
                </a:solidFill>
              </a:rPr>
              <a:t>Uniquely positioned to combine science, behaviour change and real-world data.</a:t>
            </a:r>
          </a:p>
        </p:txBody>
      </p:sp>
      <p:sp>
        <p:nvSpPr>
          <p:cNvPr id="5" name="Rectangle 4"/>
          <p:cNvSpPr/>
          <p:nvPr/>
        </p:nvSpPr>
        <p:spPr>
          <a:xfrm>
            <a:off x="411480" y="1417320"/>
            <a:ext cx="2834640" cy="1572768"/>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417320"/>
            <a:ext cx="73152" cy="1572768"/>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1508760"/>
            <a:ext cx="457200" cy="365760"/>
          </a:xfrm>
          <a:prstGeom prst="rect">
            <a:avLst/>
          </a:prstGeom>
          <a:noFill/>
        </p:spPr>
        <p:txBody>
          <a:bodyPr wrap="square">
            <a:spAutoFit/>
          </a:bodyPr>
          <a:lstStyle/>
          <a:p>
            <a:pPr algn="l"/>
            <a:r>
              <a:rPr sz="1600" b="0" i="0">
                <a:solidFill>
                  <a:srgbClr val="00C4CC"/>
                </a:solidFill>
              </a:rPr>
              <a:t>◎</a:t>
            </a:r>
          </a:p>
        </p:txBody>
      </p:sp>
      <p:sp>
        <p:nvSpPr>
          <p:cNvPr id="8" name="TextBox 7"/>
          <p:cNvSpPr txBox="1"/>
          <p:nvPr/>
        </p:nvSpPr>
        <p:spPr>
          <a:xfrm>
            <a:off x="576072" y="1892808"/>
            <a:ext cx="2560320" cy="320040"/>
          </a:xfrm>
          <a:prstGeom prst="rect">
            <a:avLst/>
          </a:prstGeom>
          <a:noFill/>
        </p:spPr>
        <p:txBody>
          <a:bodyPr wrap="square">
            <a:spAutoFit/>
          </a:bodyPr>
          <a:lstStyle/>
          <a:p>
            <a:pPr algn="l"/>
            <a:r>
              <a:rPr sz="1000" b="1" i="0">
                <a:solidFill>
                  <a:srgbClr val="1F2937"/>
                </a:solidFill>
              </a:rPr>
              <a:t>Continuous Evaluation
from the CSIRO</a:t>
            </a:r>
          </a:p>
        </p:txBody>
      </p:sp>
      <p:sp>
        <p:nvSpPr>
          <p:cNvPr id="9" name="TextBox 8"/>
          <p:cNvSpPr txBox="1"/>
          <p:nvPr/>
        </p:nvSpPr>
        <p:spPr>
          <a:xfrm>
            <a:off x="576072" y="2240280"/>
            <a:ext cx="2560320" cy="612647"/>
          </a:xfrm>
          <a:prstGeom prst="rect">
            <a:avLst/>
          </a:prstGeom>
          <a:noFill/>
        </p:spPr>
        <p:txBody>
          <a:bodyPr wrap="square">
            <a:spAutoFit/>
          </a:bodyPr>
          <a:lstStyle/>
          <a:p>
            <a:pPr algn="l"/>
            <a:r>
              <a:rPr sz="900" b="0" i="0">
                <a:solidFill>
                  <a:srgbClr val="444444"/>
                </a:solidFill>
              </a:rPr>
              <a:t>Programs regularly reviewed and updated through our partnership with Australia's national science agency.</a:t>
            </a:r>
          </a:p>
        </p:txBody>
      </p:sp>
      <p:sp>
        <p:nvSpPr>
          <p:cNvPr id="10" name="Rectangle 9"/>
          <p:cNvSpPr/>
          <p:nvPr/>
        </p:nvSpPr>
        <p:spPr>
          <a:xfrm>
            <a:off x="3337560" y="1417320"/>
            <a:ext cx="2834640" cy="1572768"/>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37560" y="1417320"/>
            <a:ext cx="73152" cy="1572768"/>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02152" y="1508760"/>
            <a:ext cx="457200" cy="365760"/>
          </a:xfrm>
          <a:prstGeom prst="rect">
            <a:avLst/>
          </a:prstGeom>
          <a:noFill/>
        </p:spPr>
        <p:txBody>
          <a:bodyPr wrap="square">
            <a:spAutoFit/>
          </a:bodyPr>
          <a:lstStyle/>
          <a:p>
            <a:pPr algn="l"/>
            <a:r>
              <a:rPr sz="1600" b="0" i="0">
                <a:solidFill>
                  <a:srgbClr val="00C4CC"/>
                </a:solidFill>
              </a:rPr>
              <a:t>◈</a:t>
            </a:r>
          </a:p>
        </p:txBody>
      </p:sp>
      <p:sp>
        <p:nvSpPr>
          <p:cNvPr id="13" name="TextBox 12"/>
          <p:cNvSpPr txBox="1"/>
          <p:nvPr/>
        </p:nvSpPr>
        <p:spPr>
          <a:xfrm>
            <a:off x="3502152" y="1892808"/>
            <a:ext cx="2560320" cy="320040"/>
          </a:xfrm>
          <a:prstGeom prst="rect">
            <a:avLst/>
          </a:prstGeom>
          <a:noFill/>
        </p:spPr>
        <p:txBody>
          <a:bodyPr wrap="square">
            <a:spAutoFit/>
          </a:bodyPr>
          <a:lstStyle/>
          <a:p>
            <a:pPr algn="l"/>
            <a:r>
              <a:rPr sz="1000" b="1" i="0">
                <a:solidFill>
                  <a:srgbClr val="1F2937"/>
                </a:solidFill>
              </a:rPr>
              <a:t>100% Digitally Delivered
with a Human Touch</a:t>
            </a:r>
          </a:p>
        </p:txBody>
      </p:sp>
      <p:sp>
        <p:nvSpPr>
          <p:cNvPr id="14" name="TextBox 13"/>
          <p:cNvSpPr txBox="1"/>
          <p:nvPr/>
        </p:nvSpPr>
        <p:spPr>
          <a:xfrm>
            <a:off x="3502152" y="2240280"/>
            <a:ext cx="2560320" cy="612647"/>
          </a:xfrm>
          <a:prstGeom prst="rect">
            <a:avLst/>
          </a:prstGeom>
          <a:noFill/>
        </p:spPr>
        <p:txBody>
          <a:bodyPr wrap="square">
            <a:spAutoFit/>
          </a:bodyPr>
          <a:lstStyle/>
          <a:p>
            <a:pPr algn="l"/>
            <a:r>
              <a:rPr sz="900" b="0" i="0">
                <a:solidFill>
                  <a:srgbClr val="444444"/>
                </a:solidFill>
              </a:rPr>
              <a:t>Accessible, affordable health solutions for a range of health concerns, allowing scalability and integration into modern life.</a:t>
            </a:r>
          </a:p>
        </p:txBody>
      </p:sp>
      <p:sp>
        <p:nvSpPr>
          <p:cNvPr id="15" name="Rectangle 14"/>
          <p:cNvSpPr/>
          <p:nvPr/>
        </p:nvSpPr>
        <p:spPr>
          <a:xfrm>
            <a:off x="6263640" y="1417320"/>
            <a:ext cx="2834640" cy="1572768"/>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1417320"/>
            <a:ext cx="73152" cy="1572768"/>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1508760"/>
            <a:ext cx="457200" cy="365760"/>
          </a:xfrm>
          <a:prstGeom prst="rect">
            <a:avLst/>
          </a:prstGeom>
          <a:noFill/>
        </p:spPr>
        <p:txBody>
          <a:bodyPr wrap="square">
            <a:spAutoFit/>
          </a:bodyPr>
          <a:lstStyle/>
          <a:p>
            <a:pPr algn="l"/>
            <a:r>
              <a:rPr sz="1600" b="0" i="0">
                <a:solidFill>
                  <a:srgbClr val="00C4CC"/>
                </a:solidFill>
              </a:rPr>
              <a:t>◉</a:t>
            </a:r>
          </a:p>
        </p:txBody>
      </p:sp>
      <p:sp>
        <p:nvSpPr>
          <p:cNvPr id="18" name="TextBox 17"/>
          <p:cNvSpPr txBox="1"/>
          <p:nvPr/>
        </p:nvSpPr>
        <p:spPr>
          <a:xfrm>
            <a:off x="6428232" y="1892808"/>
            <a:ext cx="2560320" cy="320040"/>
          </a:xfrm>
          <a:prstGeom prst="rect">
            <a:avLst/>
          </a:prstGeom>
          <a:noFill/>
        </p:spPr>
        <p:txBody>
          <a:bodyPr wrap="square">
            <a:spAutoFit/>
          </a:bodyPr>
          <a:lstStyle/>
          <a:p>
            <a:pPr algn="l"/>
            <a:r>
              <a:rPr sz="1000" b="1" i="0">
                <a:solidFill>
                  <a:srgbClr val="1F2937"/>
                </a:solidFill>
              </a:rPr>
              <a:t>Access to Digital Tools
&amp; Allied Health Support</a:t>
            </a:r>
          </a:p>
        </p:txBody>
      </p:sp>
      <p:sp>
        <p:nvSpPr>
          <p:cNvPr id="19" name="TextBox 18"/>
          <p:cNvSpPr txBox="1"/>
          <p:nvPr/>
        </p:nvSpPr>
        <p:spPr>
          <a:xfrm>
            <a:off x="6428232" y="2240280"/>
            <a:ext cx="2560320" cy="612647"/>
          </a:xfrm>
          <a:prstGeom prst="rect">
            <a:avLst/>
          </a:prstGeom>
          <a:noFill/>
        </p:spPr>
        <p:txBody>
          <a:bodyPr wrap="square">
            <a:spAutoFit/>
          </a:bodyPr>
          <a:lstStyle/>
          <a:p>
            <a:pPr algn="l"/>
            <a:r>
              <a:rPr sz="900" b="0" i="0">
                <a:solidFill>
                  <a:srgbClr val="444444"/>
                </a:solidFill>
              </a:rPr>
              <a:t>Range of member-informed, scientifically developed digital tools that ensure accountability, engagement and individualised support.</a:t>
            </a:r>
          </a:p>
        </p:txBody>
      </p:sp>
      <p:sp>
        <p:nvSpPr>
          <p:cNvPr id="20" name="Rectangle 19"/>
          <p:cNvSpPr/>
          <p:nvPr/>
        </p:nvSpPr>
        <p:spPr>
          <a:xfrm>
            <a:off x="9189720" y="1417320"/>
            <a:ext cx="2834640" cy="1572768"/>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89720" y="1417320"/>
            <a:ext cx="73152" cy="1572768"/>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54312" y="1508760"/>
            <a:ext cx="457200" cy="365760"/>
          </a:xfrm>
          <a:prstGeom prst="rect">
            <a:avLst/>
          </a:prstGeom>
          <a:noFill/>
        </p:spPr>
        <p:txBody>
          <a:bodyPr wrap="square">
            <a:spAutoFit/>
          </a:bodyPr>
          <a:lstStyle/>
          <a:p>
            <a:pPr algn="l"/>
            <a:r>
              <a:rPr sz="1600" b="0" i="0">
                <a:solidFill>
                  <a:srgbClr val="00C4CC"/>
                </a:solidFill>
              </a:rPr>
              <a:t>⬡</a:t>
            </a:r>
          </a:p>
        </p:txBody>
      </p:sp>
      <p:sp>
        <p:nvSpPr>
          <p:cNvPr id="23" name="TextBox 22"/>
          <p:cNvSpPr txBox="1"/>
          <p:nvPr/>
        </p:nvSpPr>
        <p:spPr>
          <a:xfrm>
            <a:off x="9354312" y="1892808"/>
            <a:ext cx="2560320" cy="320040"/>
          </a:xfrm>
          <a:prstGeom prst="rect">
            <a:avLst/>
          </a:prstGeom>
          <a:noFill/>
        </p:spPr>
        <p:txBody>
          <a:bodyPr wrap="square">
            <a:spAutoFit/>
          </a:bodyPr>
          <a:lstStyle/>
          <a:p>
            <a:pPr algn="l"/>
            <a:r>
              <a:rPr sz="1000" b="1" i="0">
                <a:solidFill>
                  <a:srgbClr val="1F2937"/>
                </a:solidFill>
              </a:rPr>
              <a:t>Behaviour Change
Modelled Program</a:t>
            </a:r>
          </a:p>
        </p:txBody>
      </p:sp>
      <p:sp>
        <p:nvSpPr>
          <p:cNvPr id="24" name="TextBox 23"/>
          <p:cNvSpPr txBox="1"/>
          <p:nvPr/>
        </p:nvSpPr>
        <p:spPr>
          <a:xfrm>
            <a:off x="9354312" y="2240280"/>
            <a:ext cx="2560320" cy="612647"/>
          </a:xfrm>
          <a:prstGeom prst="rect">
            <a:avLst/>
          </a:prstGeom>
          <a:noFill/>
        </p:spPr>
        <p:txBody>
          <a:bodyPr wrap="square">
            <a:spAutoFit/>
          </a:bodyPr>
          <a:lstStyle/>
          <a:p>
            <a:pPr algn="l"/>
            <a:r>
              <a:rPr sz="900" b="0" i="0">
                <a:solidFill>
                  <a:srgbClr val="444444"/>
                </a:solidFill>
              </a:rPr>
              <a:t>Focusing on educational tools, enhanced decision-making and mindfulness strategies to improve emotional wellbeing and self-control.</a:t>
            </a:r>
          </a:p>
        </p:txBody>
      </p:sp>
      <p:sp>
        <p:nvSpPr>
          <p:cNvPr id="25" name="Rectangle 24"/>
          <p:cNvSpPr/>
          <p:nvPr/>
        </p:nvSpPr>
        <p:spPr>
          <a:xfrm>
            <a:off x="411480" y="3136391"/>
            <a:ext cx="2834640" cy="1572768"/>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1480" y="3136391"/>
            <a:ext cx="73152" cy="1572768"/>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072" y="3227832"/>
            <a:ext cx="457200" cy="365760"/>
          </a:xfrm>
          <a:prstGeom prst="rect">
            <a:avLst/>
          </a:prstGeom>
          <a:noFill/>
        </p:spPr>
        <p:txBody>
          <a:bodyPr wrap="square">
            <a:spAutoFit/>
          </a:bodyPr>
          <a:lstStyle/>
          <a:p>
            <a:pPr algn="l"/>
            <a:r>
              <a:rPr sz="1600" b="0" i="0">
                <a:solidFill>
                  <a:srgbClr val="00C4CC"/>
                </a:solidFill>
              </a:rPr>
              <a:t>◍</a:t>
            </a:r>
          </a:p>
        </p:txBody>
      </p:sp>
      <p:sp>
        <p:nvSpPr>
          <p:cNvPr id="28" name="TextBox 27"/>
          <p:cNvSpPr txBox="1"/>
          <p:nvPr/>
        </p:nvSpPr>
        <p:spPr>
          <a:xfrm>
            <a:off x="576072" y="3611879"/>
            <a:ext cx="2560320" cy="320040"/>
          </a:xfrm>
          <a:prstGeom prst="rect">
            <a:avLst/>
          </a:prstGeom>
          <a:noFill/>
        </p:spPr>
        <p:txBody>
          <a:bodyPr wrap="square">
            <a:spAutoFit/>
          </a:bodyPr>
          <a:lstStyle/>
          <a:p>
            <a:pPr algn="l"/>
            <a:r>
              <a:rPr sz="1000" b="1" i="0">
                <a:solidFill>
                  <a:srgbClr val="1F2937"/>
                </a:solidFill>
              </a:rPr>
              <a:t>Nutritional-Based
Philosophy &amp; Approach</a:t>
            </a:r>
          </a:p>
        </p:txBody>
      </p:sp>
      <p:sp>
        <p:nvSpPr>
          <p:cNvPr id="29" name="TextBox 28"/>
          <p:cNvSpPr txBox="1"/>
          <p:nvPr/>
        </p:nvSpPr>
        <p:spPr>
          <a:xfrm>
            <a:off x="576072" y="3959352"/>
            <a:ext cx="2560320" cy="612647"/>
          </a:xfrm>
          <a:prstGeom prst="rect">
            <a:avLst/>
          </a:prstGeom>
          <a:noFill/>
        </p:spPr>
        <p:txBody>
          <a:bodyPr wrap="square">
            <a:spAutoFit/>
          </a:bodyPr>
          <a:lstStyle/>
          <a:p>
            <a:pPr algn="l"/>
            <a:r>
              <a:rPr sz="900" b="0" i="0">
                <a:solidFill>
                  <a:srgbClr val="444444"/>
                </a:solidFill>
              </a:rPr>
              <a:t>High protein, low GI philosophy developed and researched by the CSIRO — proven to increase long-term weight loss success.</a:t>
            </a:r>
          </a:p>
        </p:txBody>
      </p:sp>
      <p:sp>
        <p:nvSpPr>
          <p:cNvPr id="30" name="Rectangle 29"/>
          <p:cNvSpPr/>
          <p:nvPr/>
        </p:nvSpPr>
        <p:spPr>
          <a:xfrm>
            <a:off x="3337560" y="3136391"/>
            <a:ext cx="2834640" cy="1572768"/>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37560" y="3136391"/>
            <a:ext cx="73152" cy="1572768"/>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02152" y="3227832"/>
            <a:ext cx="457200" cy="365760"/>
          </a:xfrm>
          <a:prstGeom prst="rect">
            <a:avLst/>
          </a:prstGeom>
          <a:noFill/>
        </p:spPr>
        <p:txBody>
          <a:bodyPr wrap="square">
            <a:spAutoFit/>
          </a:bodyPr>
          <a:lstStyle/>
          <a:p>
            <a:pPr algn="l"/>
            <a:r>
              <a:rPr sz="1600" b="0" i="0">
                <a:solidFill>
                  <a:srgbClr val="00C4CC"/>
                </a:solidFill>
              </a:rPr>
              <a:t>◎</a:t>
            </a:r>
          </a:p>
        </p:txBody>
      </p:sp>
      <p:sp>
        <p:nvSpPr>
          <p:cNvPr id="33" name="TextBox 32"/>
          <p:cNvSpPr txBox="1"/>
          <p:nvPr/>
        </p:nvSpPr>
        <p:spPr>
          <a:xfrm>
            <a:off x="3502152" y="3611879"/>
            <a:ext cx="2560320" cy="320040"/>
          </a:xfrm>
          <a:prstGeom prst="rect">
            <a:avLst/>
          </a:prstGeom>
          <a:noFill/>
        </p:spPr>
        <p:txBody>
          <a:bodyPr wrap="square">
            <a:spAutoFit/>
          </a:bodyPr>
          <a:lstStyle/>
          <a:p>
            <a:pPr algn="l"/>
            <a:r>
              <a:rPr sz="1000" b="1" i="0">
                <a:solidFill>
                  <a:srgbClr val="1F2937"/>
                </a:solidFill>
              </a:rPr>
              <a:t>Peer Community Support
&amp; Group Coaching</a:t>
            </a:r>
          </a:p>
        </p:txBody>
      </p:sp>
      <p:sp>
        <p:nvSpPr>
          <p:cNvPr id="34" name="TextBox 33"/>
          <p:cNvSpPr txBox="1"/>
          <p:nvPr/>
        </p:nvSpPr>
        <p:spPr>
          <a:xfrm>
            <a:off x="3502152" y="3959352"/>
            <a:ext cx="2560320" cy="612647"/>
          </a:xfrm>
          <a:prstGeom prst="rect">
            <a:avLst/>
          </a:prstGeom>
          <a:noFill/>
        </p:spPr>
        <p:txBody>
          <a:bodyPr wrap="square">
            <a:spAutoFit/>
          </a:bodyPr>
          <a:lstStyle/>
          <a:p>
            <a:pPr algn="l"/>
            <a:r>
              <a:rPr sz="900" b="0" i="0">
                <a:solidFill>
                  <a:srgbClr val="444444"/>
                </a:solidFill>
              </a:rPr>
              <a:t>Access to one of Australia's largest online peer-support communities, along with complimentary Group Webinar Coaching Sessions.</a:t>
            </a:r>
          </a:p>
        </p:txBody>
      </p:sp>
      <p:sp>
        <p:nvSpPr>
          <p:cNvPr id="35" name="Rectangle 34"/>
          <p:cNvSpPr/>
          <p:nvPr/>
        </p:nvSpPr>
        <p:spPr>
          <a:xfrm>
            <a:off x="6263640" y="3136391"/>
            <a:ext cx="2834640" cy="1572768"/>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63640" y="3136391"/>
            <a:ext cx="73152" cy="1572768"/>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28232" y="3227832"/>
            <a:ext cx="457200" cy="365760"/>
          </a:xfrm>
          <a:prstGeom prst="rect">
            <a:avLst/>
          </a:prstGeom>
          <a:noFill/>
        </p:spPr>
        <p:txBody>
          <a:bodyPr wrap="square">
            <a:spAutoFit/>
          </a:bodyPr>
          <a:lstStyle/>
          <a:p>
            <a:pPr algn="l"/>
            <a:r>
              <a:rPr sz="1600" b="0" i="0">
                <a:solidFill>
                  <a:srgbClr val="00C4CC"/>
                </a:solidFill>
              </a:rPr>
              <a:t>⟳</a:t>
            </a:r>
          </a:p>
        </p:txBody>
      </p:sp>
      <p:sp>
        <p:nvSpPr>
          <p:cNvPr id="38" name="TextBox 37"/>
          <p:cNvSpPr txBox="1"/>
          <p:nvPr/>
        </p:nvSpPr>
        <p:spPr>
          <a:xfrm>
            <a:off x="6428232" y="3611879"/>
            <a:ext cx="2560320" cy="320040"/>
          </a:xfrm>
          <a:prstGeom prst="rect">
            <a:avLst/>
          </a:prstGeom>
          <a:noFill/>
        </p:spPr>
        <p:txBody>
          <a:bodyPr wrap="square">
            <a:spAutoFit/>
          </a:bodyPr>
          <a:lstStyle/>
          <a:p>
            <a:pPr algn="l"/>
            <a:r>
              <a:rPr sz="1000" b="1" i="0">
                <a:solidFill>
                  <a:srgbClr val="1F2937"/>
                </a:solidFill>
              </a:rPr>
              <a:t>Connected Care Model</a:t>
            </a:r>
          </a:p>
        </p:txBody>
      </p:sp>
      <p:sp>
        <p:nvSpPr>
          <p:cNvPr id="39" name="TextBox 38"/>
          <p:cNvSpPr txBox="1"/>
          <p:nvPr/>
        </p:nvSpPr>
        <p:spPr>
          <a:xfrm>
            <a:off x="6428232" y="3959352"/>
            <a:ext cx="2560320" cy="612647"/>
          </a:xfrm>
          <a:prstGeom prst="rect">
            <a:avLst/>
          </a:prstGeom>
          <a:noFill/>
        </p:spPr>
        <p:txBody>
          <a:bodyPr wrap="square">
            <a:spAutoFit/>
          </a:bodyPr>
          <a:lstStyle/>
          <a:p>
            <a:pPr algn="l"/>
            <a:r>
              <a:rPr sz="900" b="0" i="0">
                <a:solidFill>
                  <a:srgbClr val="444444"/>
                </a:solidFill>
              </a:rPr>
              <a:t>A digital health program focusing on patient-centric care and bridging the gap between dietitians, RNs, patients and health funds.</a:t>
            </a:r>
          </a:p>
        </p:txBody>
      </p:sp>
      <p:sp>
        <p:nvSpPr>
          <p:cNvPr id="40" name="Rectangle 39"/>
          <p:cNvSpPr/>
          <p:nvPr/>
        </p:nvSpPr>
        <p:spPr>
          <a:xfrm>
            <a:off x="9189720" y="3136391"/>
            <a:ext cx="2834640" cy="1572768"/>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189720" y="3136391"/>
            <a:ext cx="73152" cy="1572768"/>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54312" y="3227832"/>
            <a:ext cx="457200" cy="365760"/>
          </a:xfrm>
          <a:prstGeom prst="rect">
            <a:avLst/>
          </a:prstGeom>
          <a:noFill/>
        </p:spPr>
        <p:txBody>
          <a:bodyPr wrap="square">
            <a:spAutoFit/>
          </a:bodyPr>
          <a:lstStyle/>
          <a:p>
            <a:pPr algn="l"/>
            <a:r>
              <a:rPr sz="1600" b="0" i="0">
                <a:solidFill>
                  <a:srgbClr val="00C4CC"/>
                </a:solidFill>
              </a:rPr>
              <a:t>★</a:t>
            </a:r>
          </a:p>
        </p:txBody>
      </p:sp>
      <p:sp>
        <p:nvSpPr>
          <p:cNvPr id="43" name="TextBox 42"/>
          <p:cNvSpPr txBox="1"/>
          <p:nvPr/>
        </p:nvSpPr>
        <p:spPr>
          <a:xfrm>
            <a:off x="9354312" y="3611879"/>
            <a:ext cx="2560320" cy="320040"/>
          </a:xfrm>
          <a:prstGeom prst="rect">
            <a:avLst/>
          </a:prstGeom>
          <a:noFill/>
        </p:spPr>
        <p:txBody>
          <a:bodyPr wrap="square">
            <a:spAutoFit/>
          </a:bodyPr>
          <a:lstStyle/>
          <a:p>
            <a:pPr algn="l"/>
            <a:r>
              <a:rPr sz="1000" b="1" i="0">
                <a:solidFill>
                  <a:srgbClr val="1F2937"/>
                </a:solidFill>
              </a:rPr>
              <a:t>Outcomes Beyond
Clinical Results</a:t>
            </a:r>
          </a:p>
        </p:txBody>
      </p:sp>
      <p:sp>
        <p:nvSpPr>
          <p:cNvPr id="44" name="TextBox 43"/>
          <p:cNvSpPr txBox="1"/>
          <p:nvPr/>
        </p:nvSpPr>
        <p:spPr>
          <a:xfrm>
            <a:off x="9354312" y="3959352"/>
            <a:ext cx="2560320" cy="612647"/>
          </a:xfrm>
          <a:prstGeom prst="rect">
            <a:avLst/>
          </a:prstGeom>
          <a:noFill/>
        </p:spPr>
        <p:txBody>
          <a:bodyPr wrap="square">
            <a:spAutoFit/>
          </a:bodyPr>
          <a:lstStyle/>
          <a:p>
            <a:pPr algn="l"/>
            <a:r>
              <a:rPr sz="900" b="0" i="0">
                <a:solidFill>
                  <a:srgbClr val="444444"/>
                </a:solidFill>
              </a:rPr>
              <a:t>Members report better energy, mental clarity, confidence, boosted motivation, better sleep and reduced stress.</a:t>
            </a:r>
          </a:p>
        </p:txBody>
      </p:sp>
      <p:sp>
        <p:nvSpPr>
          <p:cNvPr id="45" name="Rectangle 44"/>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47" name="TextBox 46"/>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48" name="TextBox 47"/>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 y="2743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743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2743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60120" y="2743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88720" y="2743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74320" y="5029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02920" y="5029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5029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120" y="5029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88720" y="5029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74320" y="7315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02920" y="7315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1520" y="7315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0120" y="7315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88720" y="7315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74320" y="9601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02920" y="9601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1520" y="9601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0120" y="9601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88720" y="9601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01200" y="45720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29800" y="45720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058400" y="45720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87000" y="45720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515600" y="45720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01200" y="48006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29800" y="48006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0" y="48006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87000" y="48006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515600" y="48006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01200" y="50292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829800" y="50292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058400" y="50292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87000" y="50292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515600" y="50292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601200" y="52578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829800" y="52578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58400" y="52578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287000" y="52578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515600" y="525780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914400"/>
            <a:ext cx="10360152" cy="685800"/>
          </a:xfrm>
          <a:prstGeom prst="rect">
            <a:avLst/>
          </a:prstGeom>
          <a:noFill/>
        </p:spPr>
        <p:txBody>
          <a:bodyPr wrap="square">
            <a:spAutoFit/>
          </a:bodyPr>
          <a:lstStyle/>
          <a:p>
            <a:pPr algn="ctr"/>
            <a:r>
              <a:rPr sz="3000" b="0" i="0">
                <a:solidFill>
                  <a:srgbClr val="FFFFFF"/>
                </a:solidFill>
              </a:rPr>
              <a:t>How we can help</a:t>
            </a:r>
          </a:p>
        </p:txBody>
      </p:sp>
      <p:sp>
        <p:nvSpPr>
          <p:cNvPr id="44" name="TextBox 43"/>
          <p:cNvSpPr txBox="1"/>
          <p:nvPr/>
        </p:nvSpPr>
        <p:spPr>
          <a:xfrm>
            <a:off x="1371600" y="2011680"/>
            <a:ext cx="2011680" cy="731520"/>
          </a:xfrm>
          <a:prstGeom prst="rect">
            <a:avLst/>
          </a:prstGeom>
          <a:noFill/>
        </p:spPr>
        <p:txBody>
          <a:bodyPr wrap="square">
            <a:spAutoFit/>
          </a:bodyPr>
          <a:lstStyle/>
          <a:p>
            <a:pPr algn="ctr"/>
            <a:r>
              <a:rPr sz="3600" b="0" i="0">
                <a:solidFill>
                  <a:srgbClr val="00C4CC"/>
                </a:solidFill>
              </a:rPr>
              <a:t>⬡</a:t>
            </a:r>
          </a:p>
        </p:txBody>
      </p:sp>
      <p:sp>
        <p:nvSpPr>
          <p:cNvPr id="45" name="TextBox 44"/>
          <p:cNvSpPr txBox="1"/>
          <p:nvPr/>
        </p:nvSpPr>
        <p:spPr>
          <a:xfrm>
            <a:off x="1371600" y="2834640"/>
            <a:ext cx="2011680" cy="822960"/>
          </a:xfrm>
          <a:prstGeom prst="rect">
            <a:avLst/>
          </a:prstGeom>
          <a:noFill/>
        </p:spPr>
        <p:txBody>
          <a:bodyPr wrap="square">
            <a:spAutoFit/>
          </a:bodyPr>
          <a:lstStyle/>
          <a:p>
            <a:pPr algn="ctr"/>
            <a:r>
              <a:rPr sz="1300" b="0" i="0">
                <a:solidFill>
                  <a:srgbClr val="FFFFFF"/>
                </a:solidFill>
              </a:rPr>
              <a:t>Upstream Risk
Identification</a:t>
            </a:r>
          </a:p>
        </p:txBody>
      </p:sp>
      <p:sp>
        <p:nvSpPr>
          <p:cNvPr id="46" name="TextBox 45"/>
          <p:cNvSpPr txBox="1"/>
          <p:nvPr/>
        </p:nvSpPr>
        <p:spPr>
          <a:xfrm>
            <a:off x="3840480" y="2011680"/>
            <a:ext cx="2011680" cy="731520"/>
          </a:xfrm>
          <a:prstGeom prst="rect">
            <a:avLst/>
          </a:prstGeom>
          <a:noFill/>
        </p:spPr>
        <p:txBody>
          <a:bodyPr wrap="square">
            <a:spAutoFit/>
          </a:bodyPr>
          <a:lstStyle/>
          <a:p>
            <a:pPr algn="ctr"/>
            <a:r>
              <a:rPr sz="3600" b="0" i="0">
                <a:solidFill>
                  <a:srgbClr val="00C4CC"/>
                </a:solidFill>
              </a:rPr>
              <a:t>◎</a:t>
            </a:r>
          </a:p>
        </p:txBody>
      </p:sp>
      <p:sp>
        <p:nvSpPr>
          <p:cNvPr id="47" name="TextBox 46"/>
          <p:cNvSpPr txBox="1"/>
          <p:nvPr/>
        </p:nvSpPr>
        <p:spPr>
          <a:xfrm>
            <a:off x="3840480" y="2834640"/>
            <a:ext cx="2011680" cy="822960"/>
          </a:xfrm>
          <a:prstGeom prst="rect">
            <a:avLst/>
          </a:prstGeom>
          <a:noFill/>
        </p:spPr>
        <p:txBody>
          <a:bodyPr wrap="square">
            <a:spAutoFit/>
          </a:bodyPr>
          <a:lstStyle/>
          <a:p>
            <a:pPr algn="ctr"/>
            <a:r>
              <a:rPr sz="1300" b="0" i="0">
                <a:solidFill>
                  <a:srgbClr val="FFFFFF"/>
                </a:solidFill>
              </a:rPr>
              <a:t>Improved Health
Outcomes</a:t>
            </a:r>
          </a:p>
        </p:txBody>
      </p:sp>
      <p:sp>
        <p:nvSpPr>
          <p:cNvPr id="48" name="TextBox 47"/>
          <p:cNvSpPr txBox="1"/>
          <p:nvPr/>
        </p:nvSpPr>
        <p:spPr>
          <a:xfrm>
            <a:off x="6309360" y="2011680"/>
            <a:ext cx="2011680" cy="731520"/>
          </a:xfrm>
          <a:prstGeom prst="rect">
            <a:avLst/>
          </a:prstGeom>
          <a:noFill/>
        </p:spPr>
        <p:txBody>
          <a:bodyPr wrap="square">
            <a:spAutoFit/>
          </a:bodyPr>
          <a:lstStyle/>
          <a:p>
            <a:pPr algn="ctr"/>
            <a:r>
              <a:rPr sz="3600" b="0" i="0">
                <a:solidFill>
                  <a:srgbClr val="00C4CC"/>
                </a:solidFill>
              </a:rPr>
              <a:t>$</a:t>
            </a:r>
          </a:p>
        </p:txBody>
      </p:sp>
      <p:sp>
        <p:nvSpPr>
          <p:cNvPr id="49" name="TextBox 48"/>
          <p:cNvSpPr txBox="1"/>
          <p:nvPr/>
        </p:nvSpPr>
        <p:spPr>
          <a:xfrm>
            <a:off x="6309360" y="2834640"/>
            <a:ext cx="2011680" cy="822960"/>
          </a:xfrm>
          <a:prstGeom prst="rect">
            <a:avLst/>
          </a:prstGeom>
          <a:noFill/>
        </p:spPr>
        <p:txBody>
          <a:bodyPr wrap="square">
            <a:spAutoFit/>
          </a:bodyPr>
          <a:lstStyle/>
          <a:p>
            <a:pPr algn="ctr"/>
            <a:r>
              <a:rPr sz="1300" b="0" i="0">
                <a:solidFill>
                  <a:srgbClr val="FFFFFF"/>
                </a:solidFill>
              </a:rPr>
              <a:t>Value on Health
Investment</a:t>
            </a:r>
          </a:p>
        </p:txBody>
      </p:sp>
      <p:sp>
        <p:nvSpPr>
          <p:cNvPr id="50" name="TextBox 49"/>
          <p:cNvSpPr txBox="1"/>
          <p:nvPr/>
        </p:nvSpPr>
        <p:spPr>
          <a:xfrm>
            <a:off x="8778240" y="2011680"/>
            <a:ext cx="2011680" cy="731520"/>
          </a:xfrm>
          <a:prstGeom prst="rect">
            <a:avLst/>
          </a:prstGeom>
          <a:noFill/>
        </p:spPr>
        <p:txBody>
          <a:bodyPr wrap="square">
            <a:spAutoFit/>
          </a:bodyPr>
          <a:lstStyle/>
          <a:p>
            <a:pPr algn="ctr"/>
            <a:r>
              <a:rPr sz="3600" b="0" i="0">
                <a:solidFill>
                  <a:srgbClr val="00C4CC"/>
                </a:solidFill>
              </a:rPr>
              <a:t>◉</a:t>
            </a:r>
          </a:p>
        </p:txBody>
      </p:sp>
      <p:sp>
        <p:nvSpPr>
          <p:cNvPr id="51" name="TextBox 50"/>
          <p:cNvSpPr txBox="1"/>
          <p:nvPr/>
        </p:nvSpPr>
        <p:spPr>
          <a:xfrm>
            <a:off x="8778240" y="2834640"/>
            <a:ext cx="2011680" cy="822960"/>
          </a:xfrm>
          <a:prstGeom prst="rect">
            <a:avLst/>
          </a:prstGeom>
          <a:noFill/>
        </p:spPr>
        <p:txBody>
          <a:bodyPr wrap="square">
            <a:spAutoFit/>
          </a:bodyPr>
          <a:lstStyle/>
          <a:p>
            <a:pPr algn="ctr"/>
            <a:r>
              <a:rPr sz="1300" b="0" i="0">
                <a:solidFill>
                  <a:srgbClr val="FFFFFF"/>
                </a:solidFill>
              </a:rPr>
              <a:t>Improved Member
Retention</a:t>
            </a:r>
          </a:p>
        </p:txBody>
      </p:sp>
      <p:sp>
        <p:nvSpPr>
          <p:cNvPr id="52" name="Rectangle 51"/>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54" name="TextBox 53"/>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55" name="TextBox 54"/>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 y="27432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75488" y="27432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76656" y="27432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7432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78992" y="27432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74320" y="47548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47548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47548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47548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47548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74320" y="67665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5488" y="67665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76656" y="67665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77824" y="67665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8992" y="67665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74320" y="87782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75488" y="87782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76656" y="87782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77824" y="87782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78992" y="87782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75520" y="4754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76688" y="4754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277856" y="4754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479024" y="4754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680192" y="4754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875520" y="4956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76688" y="4956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277856" y="4956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479024" y="4956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680192" y="4956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875520" y="5157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076688" y="5157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77856" y="5157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479024" y="5157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680192" y="5157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875520" y="5358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076688" y="5358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77856" y="5358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479024" y="5358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680192" y="5358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1280160"/>
            <a:ext cx="6400800" cy="457200"/>
          </a:xfrm>
          <a:prstGeom prst="rect">
            <a:avLst/>
          </a:prstGeom>
          <a:noFill/>
        </p:spPr>
        <p:txBody>
          <a:bodyPr wrap="square">
            <a:spAutoFit/>
          </a:bodyPr>
          <a:lstStyle/>
          <a:p>
            <a:pPr algn="l"/>
            <a:r>
              <a:rPr sz="1300" b="1" i="0">
                <a:solidFill>
                  <a:srgbClr val="FFFFFF"/>
                </a:solidFill>
              </a:rPr>
              <a:t>CSIRO  TOTAL WELLBEING DIET</a:t>
            </a:r>
          </a:p>
        </p:txBody>
      </p:sp>
      <p:sp>
        <p:nvSpPr>
          <p:cNvPr id="44" name="TextBox 43"/>
          <p:cNvSpPr txBox="1"/>
          <p:nvPr/>
        </p:nvSpPr>
        <p:spPr>
          <a:xfrm>
            <a:off x="640080" y="1920240"/>
            <a:ext cx="7315200" cy="1645920"/>
          </a:xfrm>
          <a:prstGeom prst="rect">
            <a:avLst/>
          </a:prstGeom>
          <a:noFill/>
        </p:spPr>
        <p:txBody>
          <a:bodyPr wrap="square">
            <a:spAutoFit/>
          </a:bodyPr>
          <a:lstStyle/>
          <a:p>
            <a:pPr algn="l"/>
            <a:r>
              <a:rPr sz="4000" b="1" i="0">
                <a:solidFill>
                  <a:srgbClr val="FFFFFF"/>
                </a:solidFill>
              </a:rPr>
              <a:t>Australia's No.1
Rated Diet</a:t>
            </a:r>
          </a:p>
        </p:txBody>
      </p:sp>
      <p:sp>
        <p:nvSpPr>
          <p:cNvPr id="45" name="TextBox 44"/>
          <p:cNvSpPr txBox="1"/>
          <p:nvPr/>
        </p:nvSpPr>
        <p:spPr>
          <a:xfrm>
            <a:off x="640080" y="3703320"/>
            <a:ext cx="7315200" cy="457200"/>
          </a:xfrm>
          <a:prstGeom prst="rect">
            <a:avLst/>
          </a:prstGeom>
          <a:noFill/>
        </p:spPr>
        <p:txBody>
          <a:bodyPr wrap="square">
            <a:spAutoFit/>
          </a:bodyPr>
          <a:lstStyle/>
          <a:p>
            <a:pPr algn="l"/>
            <a:r>
              <a:rPr sz="1500" b="0" i="0">
                <a:solidFill>
                  <a:srgbClr val="FFFFFF"/>
                </a:solidFill>
              </a:rPr>
              <a:t>Real members. Real Science. Real Results.</a:t>
            </a:r>
          </a:p>
        </p:txBody>
      </p:sp>
      <p:sp>
        <p:nvSpPr>
          <p:cNvPr id="46" name="Rectangle 45"/>
          <p:cNvSpPr/>
          <p:nvPr/>
        </p:nvSpPr>
        <p:spPr>
          <a:xfrm>
            <a:off x="8046720" y="914400"/>
            <a:ext cx="3657600" cy="457200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326880" y="3017520"/>
            <a:ext cx="1097280" cy="365760"/>
          </a:xfrm>
          <a:prstGeom prst="rect">
            <a:avLst/>
          </a:prstGeom>
          <a:noFill/>
        </p:spPr>
        <p:txBody>
          <a:bodyPr wrap="square">
            <a:spAutoFit/>
          </a:bodyPr>
          <a:lstStyle/>
          <a:p>
            <a:pPr algn="ctr"/>
            <a:r>
              <a:rPr sz="900" b="0" i="0">
                <a:solidFill>
                  <a:srgbClr val="888888"/>
                </a:solidFill>
              </a:rPr>
              <a:t>[ Image ]</a:t>
            </a:r>
          </a:p>
        </p:txBody>
      </p:sp>
      <p:sp>
        <p:nvSpPr>
          <p:cNvPr id="48" name="Rectangle 47"/>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50" name="TextBox 49"/>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51" name="TextBox 50"/>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8229600" cy="548640"/>
          </a:xfrm>
          <a:prstGeom prst="rect">
            <a:avLst/>
          </a:prstGeom>
          <a:noFill/>
        </p:spPr>
        <p:txBody>
          <a:bodyPr wrap="square">
            <a:spAutoFit/>
          </a:bodyPr>
          <a:lstStyle/>
          <a:p>
            <a:pPr algn="l"/>
            <a:r>
              <a:rPr sz="2400" b="1" i="0">
                <a:solidFill>
                  <a:srgbClr val="1F2937"/>
                </a:solidFill>
              </a:rPr>
              <a:t>At the core of all our solutions</a:t>
            </a:r>
          </a:p>
        </p:txBody>
      </p:sp>
      <p:sp>
        <p:nvSpPr>
          <p:cNvPr id="4" name="TextBox 3"/>
          <p:cNvSpPr txBox="1"/>
          <p:nvPr/>
        </p:nvSpPr>
        <p:spPr>
          <a:xfrm>
            <a:off x="502920" y="896112"/>
            <a:ext cx="8686800" cy="457200"/>
          </a:xfrm>
          <a:prstGeom prst="rect">
            <a:avLst/>
          </a:prstGeom>
          <a:noFill/>
        </p:spPr>
        <p:txBody>
          <a:bodyPr wrap="square">
            <a:spAutoFit/>
          </a:bodyPr>
          <a:lstStyle/>
          <a:p>
            <a:pPr algn="l"/>
            <a:r>
              <a:rPr sz="1100" b="0" i="0">
                <a:solidFill>
                  <a:srgbClr val="00C4CC"/>
                </a:solidFill>
              </a:rPr>
              <a:t>Backed by Australia's national science agency — translating world-leading research into practical, preventative health solutions.</a:t>
            </a:r>
          </a:p>
        </p:txBody>
      </p:sp>
      <p:sp>
        <p:nvSpPr>
          <p:cNvPr id="5" name="Rectangle 4"/>
          <p:cNvSpPr/>
          <p:nvPr/>
        </p:nvSpPr>
        <p:spPr>
          <a:xfrm>
            <a:off x="411480" y="1508760"/>
            <a:ext cx="2743200" cy="146304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2743200" cy="54864"/>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8" y="1627632"/>
            <a:ext cx="2523744" cy="566928"/>
          </a:xfrm>
          <a:prstGeom prst="rect">
            <a:avLst/>
          </a:prstGeom>
          <a:noFill/>
        </p:spPr>
        <p:txBody>
          <a:bodyPr wrap="square">
            <a:spAutoFit/>
          </a:bodyPr>
          <a:lstStyle/>
          <a:p>
            <a:pPr algn="ctr"/>
            <a:r>
              <a:rPr sz="1800" b="1" i="0">
                <a:solidFill>
                  <a:srgbClr val="00C4CC"/>
                </a:solidFill>
              </a:rPr>
              <a:t>5 Star
Rated</a:t>
            </a:r>
          </a:p>
        </p:txBody>
      </p:sp>
      <p:sp>
        <p:nvSpPr>
          <p:cNvPr id="8" name="TextBox 7"/>
          <p:cNvSpPr txBox="1"/>
          <p:nvPr/>
        </p:nvSpPr>
        <p:spPr>
          <a:xfrm>
            <a:off x="521208" y="2194560"/>
            <a:ext cx="2523744" cy="713232"/>
          </a:xfrm>
          <a:prstGeom prst="rect">
            <a:avLst/>
          </a:prstGeom>
          <a:noFill/>
        </p:spPr>
        <p:txBody>
          <a:bodyPr wrap="square">
            <a:spAutoFit/>
          </a:bodyPr>
          <a:lstStyle/>
          <a:p>
            <a:pPr algn="ctr"/>
            <a:r>
              <a:rPr sz="900" b="0" i="0">
                <a:solidFill>
                  <a:srgbClr val="444444"/>
                </a:solidFill>
              </a:rPr>
              <a:t>Online program — rated No.1 on Trustpilot and Product Review</a:t>
            </a:r>
          </a:p>
        </p:txBody>
      </p:sp>
      <p:sp>
        <p:nvSpPr>
          <p:cNvPr id="9" name="Rectangle 8"/>
          <p:cNvSpPr/>
          <p:nvPr/>
        </p:nvSpPr>
        <p:spPr>
          <a:xfrm>
            <a:off x="3355848" y="1508760"/>
            <a:ext cx="2743200" cy="146304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55848" y="1508760"/>
            <a:ext cx="2743200" cy="54864"/>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5576" y="1627632"/>
            <a:ext cx="2523744" cy="566928"/>
          </a:xfrm>
          <a:prstGeom prst="rect">
            <a:avLst/>
          </a:prstGeom>
          <a:noFill/>
        </p:spPr>
        <p:txBody>
          <a:bodyPr wrap="square">
            <a:spAutoFit/>
          </a:bodyPr>
          <a:lstStyle/>
          <a:p>
            <a:pPr algn="ctr"/>
            <a:r>
              <a:rPr sz="1800" b="1" i="0">
                <a:solidFill>
                  <a:srgbClr val="00C4CC"/>
                </a:solidFill>
              </a:rPr>
              <a:t>&gt;52%</a:t>
            </a:r>
          </a:p>
        </p:txBody>
      </p:sp>
      <p:sp>
        <p:nvSpPr>
          <p:cNvPr id="12" name="TextBox 11"/>
          <p:cNvSpPr txBox="1"/>
          <p:nvPr/>
        </p:nvSpPr>
        <p:spPr>
          <a:xfrm>
            <a:off x="3465576" y="2194560"/>
            <a:ext cx="2523744" cy="713232"/>
          </a:xfrm>
          <a:prstGeom prst="rect">
            <a:avLst/>
          </a:prstGeom>
          <a:noFill/>
        </p:spPr>
        <p:txBody>
          <a:bodyPr wrap="square">
            <a:spAutoFit/>
          </a:bodyPr>
          <a:lstStyle/>
          <a:p>
            <a:pPr algn="ctr"/>
            <a:r>
              <a:rPr sz="900" b="0" i="0">
                <a:solidFill>
                  <a:srgbClr val="444444"/>
                </a:solidFill>
              </a:rPr>
              <a:t>Retention rate — industry-leading program completion</a:t>
            </a:r>
          </a:p>
        </p:txBody>
      </p:sp>
      <p:sp>
        <p:nvSpPr>
          <p:cNvPr id="13" name="Rectangle 12"/>
          <p:cNvSpPr/>
          <p:nvPr/>
        </p:nvSpPr>
        <p:spPr>
          <a:xfrm>
            <a:off x="6300216" y="1508760"/>
            <a:ext cx="2743200" cy="146304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0216" y="1508760"/>
            <a:ext cx="2743200" cy="54864"/>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627632"/>
            <a:ext cx="2523744" cy="566928"/>
          </a:xfrm>
          <a:prstGeom prst="rect">
            <a:avLst/>
          </a:prstGeom>
          <a:noFill/>
        </p:spPr>
        <p:txBody>
          <a:bodyPr wrap="square">
            <a:spAutoFit/>
          </a:bodyPr>
          <a:lstStyle/>
          <a:p>
            <a:pPr algn="ctr"/>
            <a:r>
              <a:rPr sz="1800" b="1" i="0">
                <a:solidFill>
                  <a:srgbClr val="00C4CC"/>
                </a:solidFill>
              </a:rPr>
              <a:t>4.8★</a:t>
            </a:r>
          </a:p>
        </p:txBody>
      </p:sp>
      <p:sp>
        <p:nvSpPr>
          <p:cNvPr id="16" name="TextBox 15"/>
          <p:cNvSpPr txBox="1"/>
          <p:nvPr/>
        </p:nvSpPr>
        <p:spPr>
          <a:xfrm>
            <a:off x="6409944" y="2194560"/>
            <a:ext cx="2523744" cy="713232"/>
          </a:xfrm>
          <a:prstGeom prst="rect">
            <a:avLst/>
          </a:prstGeom>
          <a:noFill/>
        </p:spPr>
        <p:txBody>
          <a:bodyPr wrap="square">
            <a:spAutoFit/>
          </a:bodyPr>
          <a:lstStyle/>
          <a:p>
            <a:pPr algn="ctr"/>
            <a:r>
              <a:rPr sz="900" b="0" i="0">
                <a:solidFill>
                  <a:srgbClr val="444444"/>
                </a:solidFill>
              </a:rPr>
              <a:t>HCP star rating from members on online support sessions</a:t>
            </a:r>
          </a:p>
        </p:txBody>
      </p:sp>
      <p:sp>
        <p:nvSpPr>
          <p:cNvPr id="17" name="Rectangle 16"/>
          <p:cNvSpPr/>
          <p:nvPr/>
        </p:nvSpPr>
        <p:spPr>
          <a:xfrm>
            <a:off x="9244584" y="1508760"/>
            <a:ext cx="2743200" cy="146304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244584" y="1508760"/>
            <a:ext cx="2743200" cy="54864"/>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54311" y="1627632"/>
            <a:ext cx="2523744" cy="566928"/>
          </a:xfrm>
          <a:prstGeom prst="rect">
            <a:avLst/>
          </a:prstGeom>
          <a:noFill/>
        </p:spPr>
        <p:txBody>
          <a:bodyPr wrap="square">
            <a:spAutoFit/>
          </a:bodyPr>
          <a:lstStyle/>
          <a:p>
            <a:pPr algn="ctr"/>
            <a:r>
              <a:rPr sz="1800" b="1" i="0">
                <a:solidFill>
                  <a:srgbClr val="00C4CC"/>
                </a:solidFill>
              </a:rPr>
              <a:t>95%</a:t>
            </a:r>
          </a:p>
        </p:txBody>
      </p:sp>
      <p:sp>
        <p:nvSpPr>
          <p:cNvPr id="20" name="TextBox 19"/>
          <p:cNvSpPr txBox="1"/>
          <p:nvPr/>
        </p:nvSpPr>
        <p:spPr>
          <a:xfrm>
            <a:off x="9354311" y="2194560"/>
            <a:ext cx="2523744" cy="713232"/>
          </a:xfrm>
          <a:prstGeom prst="rect">
            <a:avLst/>
          </a:prstGeom>
          <a:noFill/>
        </p:spPr>
        <p:txBody>
          <a:bodyPr wrap="square">
            <a:spAutoFit/>
          </a:bodyPr>
          <a:lstStyle/>
          <a:p>
            <a:pPr algn="ctr"/>
            <a:r>
              <a:rPr sz="900" b="0" i="0">
                <a:solidFill>
                  <a:srgbClr val="444444"/>
                </a:solidFill>
              </a:rPr>
              <a:t>Program satisfaction rating — overall rating of the online program</a:t>
            </a:r>
          </a:p>
        </p:txBody>
      </p:sp>
      <p:sp>
        <p:nvSpPr>
          <p:cNvPr id="21" name="TextBox 20"/>
          <p:cNvSpPr txBox="1"/>
          <p:nvPr/>
        </p:nvSpPr>
        <p:spPr>
          <a:xfrm>
            <a:off x="502920" y="3218688"/>
            <a:ext cx="7315200" cy="365760"/>
          </a:xfrm>
          <a:prstGeom prst="rect">
            <a:avLst/>
          </a:prstGeom>
          <a:noFill/>
        </p:spPr>
        <p:txBody>
          <a:bodyPr wrap="square">
            <a:spAutoFit/>
          </a:bodyPr>
          <a:lstStyle/>
          <a:p>
            <a:pPr algn="l"/>
            <a:r>
              <a:rPr sz="1300" b="1" i="0">
                <a:solidFill>
                  <a:srgbClr val="1F2937"/>
                </a:solidFill>
              </a:rPr>
              <a:t>What's included:</a:t>
            </a:r>
          </a:p>
        </p:txBody>
      </p:sp>
      <p:sp>
        <p:nvSpPr>
          <p:cNvPr id="22" name="TextBox 21"/>
          <p:cNvSpPr txBox="1"/>
          <p:nvPr/>
        </p:nvSpPr>
        <p:spPr>
          <a:xfrm>
            <a:off x="502920" y="3639312"/>
            <a:ext cx="5577840" cy="438912"/>
          </a:xfrm>
          <a:prstGeom prst="rect">
            <a:avLst/>
          </a:prstGeom>
          <a:noFill/>
        </p:spPr>
        <p:txBody>
          <a:bodyPr wrap="square">
            <a:spAutoFit/>
          </a:bodyPr>
          <a:lstStyle/>
          <a:p>
            <a:pPr algn="l"/>
            <a:r>
              <a:rPr sz="1000" b="0" i="0">
                <a:solidFill>
                  <a:srgbClr val="444444"/>
                </a:solidFill>
              </a:rPr>
              <a:t>✓  Access to the CSIRO Total Wellbeing Diet via 12-Week Plan</a:t>
            </a:r>
          </a:p>
        </p:txBody>
      </p:sp>
      <p:sp>
        <p:nvSpPr>
          <p:cNvPr id="23" name="TextBox 22"/>
          <p:cNvSpPr txBox="1"/>
          <p:nvPr/>
        </p:nvSpPr>
        <p:spPr>
          <a:xfrm>
            <a:off x="6400800" y="3639312"/>
            <a:ext cx="5577840" cy="438912"/>
          </a:xfrm>
          <a:prstGeom prst="rect">
            <a:avLst/>
          </a:prstGeom>
          <a:noFill/>
        </p:spPr>
        <p:txBody>
          <a:bodyPr wrap="square">
            <a:spAutoFit/>
          </a:bodyPr>
          <a:lstStyle/>
          <a:p>
            <a:pPr algn="l"/>
            <a:r>
              <a:rPr sz="1000" b="0" i="0">
                <a:solidFill>
                  <a:srgbClr val="444444"/>
                </a:solidFill>
              </a:rPr>
              <a:t>✓  My Journey AI Guide — CSIRO-researched, member-informed habit builder</a:t>
            </a:r>
          </a:p>
        </p:txBody>
      </p:sp>
      <p:sp>
        <p:nvSpPr>
          <p:cNvPr id="24" name="TextBox 23"/>
          <p:cNvSpPr txBox="1"/>
          <p:nvPr/>
        </p:nvSpPr>
        <p:spPr>
          <a:xfrm>
            <a:off x="502920" y="4133087"/>
            <a:ext cx="5577840" cy="438912"/>
          </a:xfrm>
          <a:prstGeom prst="rect">
            <a:avLst/>
          </a:prstGeom>
          <a:noFill/>
        </p:spPr>
        <p:txBody>
          <a:bodyPr wrap="square">
            <a:spAutoFit/>
          </a:bodyPr>
          <a:lstStyle/>
          <a:p>
            <a:pPr algn="l"/>
            <a:r>
              <a:rPr sz="1000" b="0" i="0">
                <a:solidFill>
                  <a:srgbClr val="444444"/>
                </a:solidFill>
              </a:rPr>
              <a:t>✓  Flexible recipes and menu plans based on the high protein, low GI philosophy</a:t>
            </a:r>
          </a:p>
        </p:txBody>
      </p:sp>
      <p:sp>
        <p:nvSpPr>
          <p:cNvPr id="25" name="TextBox 24"/>
          <p:cNvSpPr txBox="1"/>
          <p:nvPr/>
        </p:nvSpPr>
        <p:spPr>
          <a:xfrm>
            <a:off x="6400800" y="4133087"/>
            <a:ext cx="5577840" cy="438912"/>
          </a:xfrm>
          <a:prstGeom prst="rect">
            <a:avLst/>
          </a:prstGeom>
          <a:noFill/>
        </p:spPr>
        <p:txBody>
          <a:bodyPr wrap="square">
            <a:spAutoFit/>
          </a:bodyPr>
          <a:lstStyle/>
          <a:p>
            <a:pPr algn="l"/>
            <a:r>
              <a:rPr sz="1000" b="0" i="0">
                <a:solidFill>
                  <a:srgbClr val="444444"/>
                </a:solidFill>
              </a:rPr>
              <a:t>✓  Live and recorded Group Coaching Sessions with Accredited Practising Dietitians</a:t>
            </a:r>
          </a:p>
        </p:txBody>
      </p:sp>
      <p:sp>
        <p:nvSpPr>
          <p:cNvPr id="26" name="TextBox 25"/>
          <p:cNvSpPr txBox="1"/>
          <p:nvPr/>
        </p:nvSpPr>
        <p:spPr>
          <a:xfrm>
            <a:off x="502920" y="4626864"/>
            <a:ext cx="5577840" cy="438912"/>
          </a:xfrm>
          <a:prstGeom prst="rect">
            <a:avLst/>
          </a:prstGeom>
          <a:noFill/>
        </p:spPr>
        <p:txBody>
          <a:bodyPr wrap="square">
            <a:spAutoFit/>
          </a:bodyPr>
          <a:lstStyle/>
          <a:p>
            <a:pPr algn="l"/>
            <a:r>
              <a:rPr sz="1000" b="0" i="0">
                <a:solidFill>
                  <a:srgbClr val="444444"/>
                </a:solidFill>
              </a:rPr>
              <a:t>✓  Mental Wellbeing Tools, food &amp; exercise tracking (iOS + Android apps)</a:t>
            </a:r>
          </a:p>
        </p:txBody>
      </p:sp>
      <p:sp>
        <p:nvSpPr>
          <p:cNvPr id="27" name="TextBox 26"/>
          <p:cNvSpPr txBox="1"/>
          <p:nvPr/>
        </p:nvSpPr>
        <p:spPr>
          <a:xfrm>
            <a:off x="6400800" y="4626864"/>
            <a:ext cx="5577840" cy="438912"/>
          </a:xfrm>
          <a:prstGeom prst="rect">
            <a:avLst/>
          </a:prstGeom>
          <a:noFill/>
        </p:spPr>
        <p:txBody>
          <a:bodyPr wrap="square">
            <a:spAutoFit/>
          </a:bodyPr>
          <a:lstStyle/>
          <a:p>
            <a:pPr algn="l"/>
            <a:r>
              <a:rPr sz="1000" b="0" i="0">
                <a:solidFill>
                  <a:srgbClr val="444444"/>
                </a:solidFill>
              </a:rPr>
              <a:t>✓  Access to Australia's largest online peer-support community (50,000+ members)</a:t>
            </a:r>
          </a:p>
        </p:txBody>
      </p:sp>
      <p:sp>
        <p:nvSpPr>
          <p:cNvPr id="28" name="Rectangle 27"/>
          <p:cNvSpPr/>
          <p:nvPr/>
        </p:nvSpPr>
        <p:spPr>
          <a:xfrm>
            <a:off x="9326880" y="1417320"/>
            <a:ext cx="2560320" cy="466344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0" y="3566159"/>
            <a:ext cx="1097280" cy="365760"/>
          </a:xfrm>
          <a:prstGeom prst="rect">
            <a:avLst/>
          </a:prstGeom>
          <a:noFill/>
        </p:spPr>
        <p:txBody>
          <a:bodyPr wrap="square">
            <a:spAutoFit/>
          </a:bodyPr>
          <a:lstStyle/>
          <a:p>
            <a:pPr algn="ctr"/>
            <a:r>
              <a:rPr sz="900" b="0" i="0">
                <a:solidFill>
                  <a:srgbClr val="888888"/>
                </a:solidFill>
              </a:rPr>
              <a:t>[ App / program screenshot ]</a:t>
            </a:r>
          </a:p>
        </p:txBody>
      </p:sp>
      <p:sp>
        <p:nvSpPr>
          <p:cNvPr id="30" name="Rectangle 29"/>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32" name="TextBox 31"/>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33" name="TextBox 32"/>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8229600" cy="548640"/>
          </a:xfrm>
          <a:prstGeom prst="rect">
            <a:avLst/>
          </a:prstGeom>
          <a:noFill/>
        </p:spPr>
        <p:txBody>
          <a:bodyPr wrap="square">
            <a:spAutoFit/>
          </a:bodyPr>
          <a:lstStyle/>
          <a:p>
            <a:pPr algn="l"/>
            <a:r>
              <a:rPr sz="2400" b="1" i="0">
                <a:solidFill>
                  <a:srgbClr val="1F2937"/>
                </a:solidFill>
              </a:rPr>
              <a:t>Program outcomes</a:t>
            </a:r>
          </a:p>
        </p:txBody>
      </p:sp>
      <p:sp>
        <p:nvSpPr>
          <p:cNvPr id="4" name="TextBox 3"/>
          <p:cNvSpPr txBox="1"/>
          <p:nvPr/>
        </p:nvSpPr>
        <p:spPr>
          <a:xfrm>
            <a:off x="502920" y="896112"/>
            <a:ext cx="8686800" cy="365760"/>
          </a:xfrm>
          <a:prstGeom prst="rect">
            <a:avLst/>
          </a:prstGeom>
          <a:noFill/>
        </p:spPr>
        <p:txBody>
          <a:bodyPr wrap="square">
            <a:spAutoFit/>
          </a:bodyPr>
          <a:lstStyle/>
          <a:p>
            <a:pPr algn="l"/>
            <a:r>
              <a:rPr sz="1200" b="0" i="0">
                <a:solidFill>
                  <a:srgbClr val="00C4CC"/>
                </a:solidFill>
              </a:rPr>
              <a:t>Evidence-based results across weight loss, chronic disease markers and member wellbeing.</a:t>
            </a:r>
          </a:p>
        </p:txBody>
      </p:sp>
      <p:sp>
        <p:nvSpPr>
          <p:cNvPr id="5" name="TextBox 4"/>
          <p:cNvSpPr txBox="1"/>
          <p:nvPr/>
        </p:nvSpPr>
        <p:spPr>
          <a:xfrm>
            <a:off x="502920" y="1444752"/>
            <a:ext cx="5943600" cy="365760"/>
          </a:xfrm>
          <a:prstGeom prst="rect">
            <a:avLst/>
          </a:prstGeom>
          <a:noFill/>
        </p:spPr>
        <p:txBody>
          <a:bodyPr wrap="square">
            <a:spAutoFit/>
          </a:bodyPr>
          <a:lstStyle/>
          <a:p>
            <a:pPr algn="l"/>
            <a:r>
              <a:rPr sz="1300" b="1" i="0">
                <a:solidFill>
                  <a:srgbClr val="1F2937"/>
                </a:solidFill>
              </a:rPr>
              <a:t>CSIRO Total Wellbeing Diet</a:t>
            </a:r>
          </a:p>
        </p:txBody>
      </p:sp>
      <p:sp>
        <p:nvSpPr>
          <p:cNvPr id="6" name="Rectangle 5"/>
          <p:cNvSpPr/>
          <p:nvPr/>
        </p:nvSpPr>
        <p:spPr>
          <a:xfrm>
            <a:off x="502920" y="1810512"/>
            <a:ext cx="11247120" cy="2743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920240"/>
            <a:ext cx="2148840" cy="14173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011680"/>
            <a:ext cx="1965960" cy="566928"/>
          </a:xfrm>
          <a:prstGeom prst="rect">
            <a:avLst/>
          </a:prstGeom>
          <a:noFill/>
        </p:spPr>
        <p:txBody>
          <a:bodyPr wrap="square">
            <a:spAutoFit/>
          </a:bodyPr>
          <a:lstStyle/>
          <a:p>
            <a:pPr algn="ctr"/>
            <a:r>
              <a:rPr sz="2400" b="1" i="0">
                <a:solidFill>
                  <a:srgbClr val="00C4CC"/>
                </a:solidFill>
              </a:rPr>
              <a:t>7.2%</a:t>
            </a:r>
          </a:p>
        </p:txBody>
      </p:sp>
      <p:sp>
        <p:nvSpPr>
          <p:cNvPr id="9" name="TextBox 8"/>
          <p:cNvSpPr txBox="1"/>
          <p:nvPr/>
        </p:nvSpPr>
        <p:spPr>
          <a:xfrm>
            <a:off x="502920" y="2578608"/>
            <a:ext cx="1965960" cy="685800"/>
          </a:xfrm>
          <a:prstGeom prst="rect">
            <a:avLst/>
          </a:prstGeom>
          <a:noFill/>
        </p:spPr>
        <p:txBody>
          <a:bodyPr wrap="square">
            <a:spAutoFit/>
          </a:bodyPr>
          <a:lstStyle/>
          <a:p>
            <a:pPr algn="ctr"/>
            <a:r>
              <a:rPr sz="900" b="0" i="0">
                <a:solidFill>
                  <a:srgbClr val="444444"/>
                </a:solidFill>
              </a:rPr>
              <a:t>Average body weight
loss after 12 weeks</a:t>
            </a:r>
          </a:p>
        </p:txBody>
      </p:sp>
      <p:sp>
        <p:nvSpPr>
          <p:cNvPr id="10" name="Rectangle 9"/>
          <p:cNvSpPr/>
          <p:nvPr/>
        </p:nvSpPr>
        <p:spPr>
          <a:xfrm>
            <a:off x="2715768" y="1920240"/>
            <a:ext cx="2148840" cy="14173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07208" y="2011680"/>
            <a:ext cx="1965960" cy="566928"/>
          </a:xfrm>
          <a:prstGeom prst="rect">
            <a:avLst/>
          </a:prstGeom>
          <a:noFill/>
        </p:spPr>
        <p:txBody>
          <a:bodyPr wrap="square">
            <a:spAutoFit/>
          </a:bodyPr>
          <a:lstStyle/>
          <a:p>
            <a:pPr algn="ctr"/>
            <a:r>
              <a:rPr sz="2400" b="1" i="0">
                <a:solidFill>
                  <a:srgbClr val="00C4CC"/>
                </a:solidFill>
              </a:rPr>
              <a:t>1 in 2</a:t>
            </a:r>
          </a:p>
        </p:txBody>
      </p:sp>
      <p:sp>
        <p:nvSpPr>
          <p:cNvPr id="12" name="TextBox 11"/>
          <p:cNvSpPr txBox="1"/>
          <p:nvPr/>
        </p:nvSpPr>
        <p:spPr>
          <a:xfrm>
            <a:off x="2807208" y="2578608"/>
            <a:ext cx="1965960" cy="685800"/>
          </a:xfrm>
          <a:prstGeom prst="rect">
            <a:avLst/>
          </a:prstGeom>
          <a:noFill/>
        </p:spPr>
        <p:txBody>
          <a:bodyPr wrap="square">
            <a:spAutoFit/>
          </a:bodyPr>
          <a:lstStyle/>
          <a:p>
            <a:pPr algn="ctr"/>
            <a:r>
              <a:rPr sz="900" b="0" i="0">
                <a:solidFill>
                  <a:srgbClr val="444444"/>
                </a:solidFill>
              </a:rPr>
              <a:t>Completers lose 5%+
(clinically significant)</a:t>
            </a:r>
          </a:p>
        </p:txBody>
      </p:sp>
      <p:sp>
        <p:nvSpPr>
          <p:cNvPr id="13" name="Rectangle 12"/>
          <p:cNvSpPr/>
          <p:nvPr/>
        </p:nvSpPr>
        <p:spPr>
          <a:xfrm>
            <a:off x="5020056" y="1920240"/>
            <a:ext cx="2148840" cy="14173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11496" y="2011680"/>
            <a:ext cx="1965960" cy="566928"/>
          </a:xfrm>
          <a:prstGeom prst="rect">
            <a:avLst/>
          </a:prstGeom>
          <a:noFill/>
        </p:spPr>
        <p:txBody>
          <a:bodyPr wrap="square">
            <a:spAutoFit/>
          </a:bodyPr>
          <a:lstStyle/>
          <a:p>
            <a:pPr algn="ctr"/>
            <a:r>
              <a:rPr sz="2400" b="1" i="0">
                <a:solidFill>
                  <a:srgbClr val="00C4CC"/>
                </a:solidFill>
              </a:rPr>
              <a:t>72</a:t>
            </a:r>
          </a:p>
        </p:txBody>
      </p:sp>
      <p:sp>
        <p:nvSpPr>
          <p:cNvPr id="15" name="TextBox 14"/>
          <p:cNvSpPr txBox="1"/>
          <p:nvPr/>
        </p:nvSpPr>
        <p:spPr>
          <a:xfrm>
            <a:off x="5111496" y="2578608"/>
            <a:ext cx="1965960" cy="685800"/>
          </a:xfrm>
          <a:prstGeom prst="rect">
            <a:avLst/>
          </a:prstGeom>
          <a:noFill/>
        </p:spPr>
        <p:txBody>
          <a:bodyPr wrap="square">
            <a:spAutoFit/>
          </a:bodyPr>
          <a:lstStyle/>
          <a:p>
            <a:pPr algn="ctr"/>
            <a:r>
              <a:rPr sz="900" b="0" i="0">
                <a:solidFill>
                  <a:srgbClr val="444444"/>
                </a:solidFill>
              </a:rPr>
              <a:t>NPS score</a:t>
            </a:r>
          </a:p>
        </p:txBody>
      </p:sp>
      <p:sp>
        <p:nvSpPr>
          <p:cNvPr id="16" name="Rectangle 15"/>
          <p:cNvSpPr/>
          <p:nvPr/>
        </p:nvSpPr>
        <p:spPr>
          <a:xfrm>
            <a:off x="7324344" y="1920240"/>
            <a:ext cx="2148840" cy="14173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15783" y="2011680"/>
            <a:ext cx="1965960" cy="566928"/>
          </a:xfrm>
          <a:prstGeom prst="rect">
            <a:avLst/>
          </a:prstGeom>
          <a:noFill/>
        </p:spPr>
        <p:txBody>
          <a:bodyPr wrap="square">
            <a:spAutoFit/>
          </a:bodyPr>
          <a:lstStyle/>
          <a:p>
            <a:pPr algn="ctr"/>
            <a:r>
              <a:rPr sz="2400" b="1" i="0">
                <a:solidFill>
                  <a:srgbClr val="00C4CC"/>
                </a:solidFill>
              </a:rPr>
              <a:t>95%</a:t>
            </a:r>
          </a:p>
        </p:txBody>
      </p:sp>
      <p:sp>
        <p:nvSpPr>
          <p:cNvPr id="18" name="TextBox 17"/>
          <p:cNvSpPr txBox="1"/>
          <p:nvPr/>
        </p:nvSpPr>
        <p:spPr>
          <a:xfrm>
            <a:off x="7415783" y="2578608"/>
            <a:ext cx="1965960" cy="685800"/>
          </a:xfrm>
          <a:prstGeom prst="rect">
            <a:avLst/>
          </a:prstGeom>
          <a:noFill/>
        </p:spPr>
        <p:txBody>
          <a:bodyPr wrap="square">
            <a:spAutoFit/>
          </a:bodyPr>
          <a:lstStyle/>
          <a:p>
            <a:pPr algn="ctr"/>
            <a:r>
              <a:rPr sz="900" b="0" i="0">
                <a:solidFill>
                  <a:srgbClr val="444444"/>
                </a:solidFill>
              </a:rPr>
              <a:t>Program satisfaction
rating</a:t>
            </a:r>
          </a:p>
        </p:txBody>
      </p:sp>
      <p:sp>
        <p:nvSpPr>
          <p:cNvPr id="19" name="Rectangle 18"/>
          <p:cNvSpPr/>
          <p:nvPr/>
        </p:nvSpPr>
        <p:spPr>
          <a:xfrm>
            <a:off x="9628632" y="1920240"/>
            <a:ext cx="2148840" cy="14173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20072" y="2011680"/>
            <a:ext cx="1965960" cy="566928"/>
          </a:xfrm>
          <a:prstGeom prst="rect">
            <a:avLst/>
          </a:prstGeom>
          <a:noFill/>
        </p:spPr>
        <p:txBody>
          <a:bodyPr wrap="square">
            <a:spAutoFit/>
          </a:bodyPr>
          <a:lstStyle/>
          <a:p>
            <a:pPr algn="ctr"/>
            <a:r>
              <a:rPr sz="2400" b="1" i="0">
                <a:solidFill>
                  <a:srgbClr val="00C4CC"/>
                </a:solidFill>
              </a:rPr>
              <a:t>50K+</a:t>
            </a:r>
          </a:p>
        </p:txBody>
      </p:sp>
      <p:sp>
        <p:nvSpPr>
          <p:cNvPr id="21" name="TextBox 20"/>
          <p:cNvSpPr txBox="1"/>
          <p:nvPr/>
        </p:nvSpPr>
        <p:spPr>
          <a:xfrm>
            <a:off x="9720072" y="2578608"/>
            <a:ext cx="1965960" cy="685800"/>
          </a:xfrm>
          <a:prstGeom prst="rect">
            <a:avLst/>
          </a:prstGeom>
          <a:noFill/>
        </p:spPr>
        <p:txBody>
          <a:bodyPr wrap="square">
            <a:spAutoFit/>
          </a:bodyPr>
          <a:lstStyle/>
          <a:p>
            <a:pPr algn="ctr"/>
            <a:r>
              <a:rPr sz="900" b="0" i="0">
                <a:solidFill>
                  <a:srgbClr val="444444"/>
                </a:solidFill>
              </a:rPr>
              <a:t>Active community
members</a:t>
            </a:r>
          </a:p>
        </p:txBody>
      </p:sp>
      <p:sp>
        <p:nvSpPr>
          <p:cNvPr id="22" name="TextBox 21"/>
          <p:cNvSpPr txBox="1"/>
          <p:nvPr/>
        </p:nvSpPr>
        <p:spPr>
          <a:xfrm>
            <a:off x="502920" y="3566160"/>
            <a:ext cx="7315200" cy="365760"/>
          </a:xfrm>
          <a:prstGeom prst="rect">
            <a:avLst/>
          </a:prstGeom>
          <a:noFill/>
        </p:spPr>
        <p:txBody>
          <a:bodyPr wrap="square">
            <a:spAutoFit/>
          </a:bodyPr>
          <a:lstStyle/>
          <a:p>
            <a:pPr algn="l"/>
            <a:r>
              <a:rPr sz="1300" b="1" i="0">
                <a:solidFill>
                  <a:srgbClr val="1F2937"/>
                </a:solidFill>
              </a:rPr>
              <a:t>Total Wellbeing Lifestyle Plan (CDMP)</a:t>
            </a:r>
          </a:p>
        </p:txBody>
      </p:sp>
      <p:sp>
        <p:nvSpPr>
          <p:cNvPr id="23" name="Rectangle 22"/>
          <p:cNvSpPr/>
          <p:nvPr/>
        </p:nvSpPr>
        <p:spPr>
          <a:xfrm>
            <a:off x="502920" y="3931920"/>
            <a:ext cx="11247120" cy="2743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4041648"/>
            <a:ext cx="2148840" cy="14173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133087"/>
            <a:ext cx="1965960" cy="566928"/>
          </a:xfrm>
          <a:prstGeom prst="rect">
            <a:avLst/>
          </a:prstGeom>
          <a:noFill/>
        </p:spPr>
        <p:txBody>
          <a:bodyPr wrap="square">
            <a:spAutoFit/>
          </a:bodyPr>
          <a:lstStyle/>
          <a:p>
            <a:pPr algn="ctr"/>
            <a:r>
              <a:rPr sz="2400" b="1" i="0">
                <a:solidFill>
                  <a:srgbClr val="00C4CC"/>
                </a:solidFill>
              </a:rPr>
              <a:t>7.1%</a:t>
            </a:r>
          </a:p>
        </p:txBody>
      </p:sp>
      <p:sp>
        <p:nvSpPr>
          <p:cNvPr id="26" name="TextBox 25"/>
          <p:cNvSpPr txBox="1"/>
          <p:nvPr/>
        </p:nvSpPr>
        <p:spPr>
          <a:xfrm>
            <a:off x="502920" y="4700016"/>
            <a:ext cx="1965960" cy="685800"/>
          </a:xfrm>
          <a:prstGeom prst="rect">
            <a:avLst/>
          </a:prstGeom>
          <a:noFill/>
        </p:spPr>
        <p:txBody>
          <a:bodyPr wrap="square">
            <a:spAutoFit/>
          </a:bodyPr>
          <a:lstStyle/>
          <a:p>
            <a:pPr algn="ctr"/>
            <a:r>
              <a:rPr sz="900" b="0" i="0">
                <a:solidFill>
                  <a:srgbClr val="444444"/>
                </a:solidFill>
              </a:rPr>
              <a:t>Body weight
loss</a:t>
            </a:r>
          </a:p>
        </p:txBody>
      </p:sp>
      <p:sp>
        <p:nvSpPr>
          <p:cNvPr id="27" name="Rectangle 26"/>
          <p:cNvSpPr/>
          <p:nvPr/>
        </p:nvSpPr>
        <p:spPr>
          <a:xfrm>
            <a:off x="2715768" y="4041648"/>
            <a:ext cx="2148840" cy="14173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07208" y="4133087"/>
            <a:ext cx="1965960" cy="566928"/>
          </a:xfrm>
          <a:prstGeom prst="rect">
            <a:avLst/>
          </a:prstGeom>
          <a:noFill/>
        </p:spPr>
        <p:txBody>
          <a:bodyPr wrap="square">
            <a:spAutoFit/>
          </a:bodyPr>
          <a:lstStyle/>
          <a:p>
            <a:pPr algn="ctr"/>
            <a:r>
              <a:rPr sz="2400" b="1" i="0">
                <a:solidFill>
                  <a:srgbClr val="00C4CC"/>
                </a:solidFill>
              </a:rPr>
              <a:t>2–3%</a:t>
            </a:r>
          </a:p>
        </p:txBody>
      </p:sp>
      <p:sp>
        <p:nvSpPr>
          <p:cNvPr id="29" name="TextBox 28"/>
          <p:cNvSpPr txBox="1"/>
          <p:nvPr/>
        </p:nvSpPr>
        <p:spPr>
          <a:xfrm>
            <a:off x="2807208" y="4700016"/>
            <a:ext cx="1965960" cy="685800"/>
          </a:xfrm>
          <a:prstGeom prst="rect">
            <a:avLst/>
          </a:prstGeom>
          <a:noFill/>
        </p:spPr>
        <p:txBody>
          <a:bodyPr wrap="square">
            <a:spAutoFit/>
          </a:bodyPr>
          <a:lstStyle/>
          <a:p>
            <a:pPr algn="ctr"/>
            <a:r>
              <a:rPr sz="900" b="0" i="0">
                <a:solidFill>
                  <a:srgbClr val="444444"/>
                </a:solidFill>
              </a:rPr>
              <a:t>Blood pressure
improvement</a:t>
            </a:r>
          </a:p>
        </p:txBody>
      </p:sp>
      <p:sp>
        <p:nvSpPr>
          <p:cNvPr id="30" name="Rectangle 29"/>
          <p:cNvSpPr/>
          <p:nvPr/>
        </p:nvSpPr>
        <p:spPr>
          <a:xfrm>
            <a:off x="5020056" y="4041648"/>
            <a:ext cx="2148840" cy="14173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11496" y="4133087"/>
            <a:ext cx="1965960" cy="566928"/>
          </a:xfrm>
          <a:prstGeom prst="rect">
            <a:avLst/>
          </a:prstGeom>
          <a:noFill/>
        </p:spPr>
        <p:txBody>
          <a:bodyPr wrap="square">
            <a:spAutoFit/>
          </a:bodyPr>
          <a:lstStyle/>
          <a:p>
            <a:pPr algn="ctr"/>
            <a:r>
              <a:rPr sz="2400" b="1" i="0">
                <a:solidFill>
                  <a:srgbClr val="00C4CC"/>
                </a:solidFill>
              </a:rPr>
              <a:t>5%</a:t>
            </a:r>
          </a:p>
        </p:txBody>
      </p:sp>
      <p:sp>
        <p:nvSpPr>
          <p:cNvPr id="32" name="TextBox 31"/>
          <p:cNvSpPr txBox="1"/>
          <p:nvPr/>
        </p:nvSpPr>
        <p:spPr>
          <a:xfrm>
            <a:off x="5111496" y="4700016"/>
            <a:ext cx="1965960" cy="685800"/>
          </a:xfrm>
          <a:prstGeom prst="rect">
            <a:avLst/>
          </a:prstGeom>
          <a:noFill/>
        </p:spPr>
        <p:txBody>
          <a:bodyPr wrap="square">
            <a:spAutoFit/>
          </a:bodyPr>
          <a:lstStyle/>
          <a:p>
            <a:pPr algn="ctr"/>
            <a:r>
              <a:rPr sz="900" b="0" i="0">
                <a:solidFill>
                  <a:srgbClr val="444444"/>
                </a:solidFill>
              </a:rPr>
              <a:t>Cholesterol
improvement</a:t>
            </a:r>
          </a:p>
        </p:txBody>
      </p:sp>
      <p:sp>
        <p:nvSpPr>
          <p:cNvPr id="33" name="Rectangle 32"/>
          <p:cNvSpPr/>
          <p:nvPr/>
        </p:nvSpPr>
        <p:spPr>
          <a:xfrm>
            <a:off x="7324344" y="4041648"/>
            <a:ext cx="2148840" cy="14173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15783" y="4133087"/>
            <a:ext cx="1965960" cy="566928"/>
          </a:xfrm>
          <a:prstGeom prst="rect">
            <a:avLst/>
          </a:prstGeom>
          <a:noFill/>
        </p:spPr>
        <p:txBody>
          <a:bodyPr wrap="square">
            <a:spAutoFit/>
          </a:bodyPr>
          <a:lstStyle/>
          <a:p>
            <a:pPr algn="ctr"/>
            <a:r>
              <a:rPr sz="2400" b="1" i="0">
                <a:solidFill>
                  <a:srgbClr val="00C4CC"/>
                </a:solidFill>
              </a:rPr>
              <a:t>41%</a:t>
            </a:r>
          </a:p>
        </p:txBody>
      </p:sp>
      <p:sp>
        <p:nvSpPr>
          <p:cNvPr id="35" name="TextBox 34"/>
          <p:cNvSpPr txBox="1"/>
          <p:nvPr/>
        </p:nvSpPr>
        <p:spPr>
          <a:xfrm>
            <a:off x="7415783" y="4700016"/>
            <a:ext cx="1965960" cy="685800"/>
          </a:xfrm>
          <a:prstGeom prst="rect">
            <a:avLst/>
          </a:prstGeom>
          <a:noFill/>
        </p:spPr>
        <p:txBody>
          <a:bodyPr wrap="square">
            <a:spAutoFit/>
          </a:bodyPr>
          <a:lstStyle/>
          <a:p>
            <a:pPr algn="ctr"/>
            <a:r>
              <a:rPr sz="900" b="0" i="0">
                <a:solidFill>
                  <a:srgbClr val="444444"/>
                </a:solidFill>
              </a:rPr>
              <a:t>Reduction in
pressure on joints</a:t>
            </a:r>
          </a:p>
        </p:txBody>
      </p:sp>
      <p:sp>
        <p:nvSpPr>
          <p:cNvPr id="36" name="Rectangle 35"/>
          <p:cNvSpPr/>
          <p:nvPr/>
        </p:nvSpPr>
        <p:spPr>
          <a:xfrm>
            <a:off x="9628632" y="4041648"/>
            <a:ext cx="2148840" cy="14173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20072" y="4133087"/>
            <a:ext cx="1965960" cy="566928"/>
          </a:xfrm>
          <a:prstGeom prst="rect">
            <a:avLst/>
          </a:prstGeom>
          <a:noFill/>
        </p:spPr>
        <p:txBody>
          <a:bodyPr wrap="square">
            <a:spAutoFit/>
          </a:bodyPr>
          <a:lstStyle/>
          <a:p>
            <a:pPr algn="ctr"/>
            <a:r>
              <a:rPr sz="2400" b="1" i="0">
                <a:solidFill>
                  <a:srgbClr val="00C4CC"/>
                </a:solidFill>
              </a:rPr>
              <a:t>13%</a:t>
            </a:r>
          </a:p>
        </p:txBody>
      </p:sp>
      <p:sp>
        <p:nvSpPr>
          <p:cNvPr id="38" name="TextBox 37"/>
          <p:cNvSpPr txBox="1"/>
          <p:nvPr/>
        </p:nvSpPr>
        <p:spPr>
          <a:xfrm>
            <a:off x="9720072" y="4700016"/>
            <a:ext cx="1965960" cy="685800"/>
          </a:xfrm>
          <a:prstGeom prst="rect">
            <a:avLst/>
          </a:prstGeom>
          <a:noFill/>
        </p:spPr>
        <p:txBody>
          <a:bodyPr wrap="square">
            <a:spAutoFit/>
          </a:bodyPr>
          <a:lstStyle/>
          <a:p>
            <a:pPr algn="ctr"/>
            <a:r>
              <a:rPr sz="900" b="0" i="0">
                <a:solidFill>
                  <a:srgbClr val="444444"/>
                </a:solidFill>
              </a:rPr>
              <a:t>Blood glucose
improvement</a:t>
            </a:r>
          </a:p>
        </p:txBody>
      </p:sp>
      <p:sp>
        <p:nvSpPr>
          <p:cNvPr id="39" name="TextBox 38"/>
          <p:cNvSpPr txBox="1"/>
          <p:nvPr/>
        </p:nvSpPr>
        <p:spPr>
          <a:xfrm>
            <a:off x="502920" y="6053328"/>
            <a:ext cx="11247120" cy="365760"/>
          </a:xfrm>
          <a:prstGeom prst="rect">
            <a:avLst/>
          </a:prstGeom>
          <a:noFill/>
        </p:spPr>
        <p:txBody>
          <a:bodyPr wrap="square">
            <a:spAutoFit/>
          </a:bodyPr>
          <a:lstStyle/>
          <a:p>
            <a:pPr algn="l"/>
            <a:r>
              <a:rPr sz="700" b="0" i="1">
                <a:solidFill>
                  <a:srgbClr val="888888"/>
                </a:solidFill>
              </a:rPr>
              <a:t>Source: Hendrie et al. (2021), JMIR 23(6); CSIRO Study — Effectiveness of an online weight management program for people with chronic disease delivered through a private health insurance model.</a:t>
            </a:r>
          </a:p>
        </p:txBody>
      </p:sp>
      <p:sp>
        <p:nvSpPr>
          <p:cNvPr id="40" name="Rectangle 39"/>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42" name="TextBox 41"/>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43" name="TextBox 42"/>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0" y="-1371600"/>
            <a:ext cx="6400800" cy="9144000"/>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217920" y="-457200"/>
            <a:ext cx="6858000" cy="8229600"/>
          </a:xfrm>
          <a:prstGeom prst="ellipse">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80960" y="1097280"/>
            <a:ext cx="3840480" cy="43891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52560" y="3108959"/>
            <a:ext cx="1097280" cy="365760"/>
          </a:xfrm>
          <a:prstGeom prst="rect">
            <a:avLst/>
          </a:prstGeom>
          <a:noFill/>
        </p:spPr>
        <p:txBody>
          <a:bodyPr wrap="square">
            <a:spAutoFit/>
          </a:bodyPr>
          <a:lstStyle/>
          <a:p>
            <a:pPr algn="ctr"/>
            <a:r>
              <a:rPr sz="900" b="0" i="0">
                <a:solidFill>
                  <a:srgbClr val="888888"/>
                </a:solidFill>
              </a:rPr>
              <a:t>[ Image ]</a:t>
            </a:r>
          </a:p>
        </p:txBody>
      </p:sp>
      <p:sp>
        <p:nvSpPr>
          <p:cNvPr id="7" name="Oval 6"/>
          <p:cNvSpPr/>
          <p:nvPr/>
        </p:nvSpPr>
        <p:spPr>
          <a:xfrm>
            <a:off x="11155680" y="182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56848" y="182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58015" y="182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759184" y="182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155680" y="384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356848" y="384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558015" y="384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759184" y="384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155680" y="585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356848" y="585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558015" y="585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59184" y="585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155680" y="786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356848" y="786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558015" y="786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759184" y="786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1371600"/>
            <a:ext cx="5486400" cy="411480"/>
          </a:xfrm>
          <a:prstGeom prst="rect">
            <a:avLst/>
          </a:prstGeom>
          <a:noFill/>
        </p:spPr>
        <p:txBody>
          <a:bodyPr wrap="square">
            <a:spAutoFit/>
          </a:bodyPr>
          <a:lstStyle/>
          <a:p>
            <a:pPr algn="l"/>
            <a:r>
              <a:rPr sz="1100" b="1" i="0">
                <a:solidFill>
                  <a:srgbClr val="00C4CC"/>
                </a:solidFill>
              </a:rPr>
              <a:t>Digital Wellness®</a:t>
            </a:r>
          </a:p>
        </p:txBody>
      </p:sp>
      <p:sp>
        <p:nvSpPr>
          <p:cNvPr id="24" name="TextBox 23"/>
          <p:cNvSpPr txBox="1"/>
          <p:nvPr/>
        </p:nvSpPr>
        <p:spPr>
          <a:xfrm>
            <a:off x="548640" y="1920240"/>
            <a:ext cx="5943600" cy="1645920"/>
          </a:xfrm>
          <a:prstGeom prst="rect">
            <a:avLst/>
          </a:prstGeom>
          <a:noFill/>
        </p:spPr>
        <p:txBody>
          <a:bodyPr wrap="square">
            <a:spAutoFit/>
          </a:bodyPr>
          <a:lstStyle/>
          <a:p>
            <a:pPr algn="l"/>
            <a:r>
              <a:rPr sz="3600" b="1" i="0">
                <a:solidFill>
                  <a:srgbClr val="1F2937"/>
                </a:solidFill>
              </a:rPr>
              <a:t>How We Work
With Partners</a:t>
            </a:r>
          </a:p>
        </p:txBody>
      </p:sp>
      <p:sp>
        <p:nvSpPr>
          <p:cNvPr id="25" name="TextBox 24"/>
          <p:cNvSpPr txBox="1"/>
          <p:nvPr/>
        </p:nvSpPr>
        <p:spPr>
          <a:xfrm>
            <a:off x="548640" y="3703320"/>
            <a:ext cx="5943600" cy="502920"/>
          </a:xfrm>
          <a:prstGeom prst="rect">
            <a:avLst/>
          </a:prstGeom>
          <a:noFill/>
        </p:spPr>
        <p:txBody>
          <a:bodyPr wrap="square">
            <a:spAutoFit/>
          </a:bodyPr>
          <a:lstStyle/>
          <a:p>
            <a:pPr algn="l"/>
            <a:r>
              <a:rPr sz="1500" b="0" i="0">
                <a:solidFill>
                  <a:srgbClr val="00C4CC"/>
                </a:solidFill>
              </a:rPr>
              <a:t>Your success is our success.</a:t>
            </a:r>
          </a:p>
        </p:txBody>
      </p:sp>
      <p:sp>
        <p:nvSpPr>
          <p:cNvPr id="26" name="Rectangle 25"/>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28" name="TextBox 27"/>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29" name="TextBox 28"/>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8686800" cy="594360"/>
          </a:xfrm>
          <a:prstGeom prst="rect">
            <a:avLst/>
          </a:prstGeom>
          <a:noFill/>
        </p:spPr>
        <p:txBody>
          <a:bodyPr wrap="square">
            <a:spAutoFit/>
          </a:bodyPr>
          <a:lstStyle/>
          <a:p>
            <a:pPr algn="l"/>
            <a:r>
              <a:rPr sz="2400" b="1" i="0">
                <a:solidFill>
                  <a:srgbClr val="1F2937"/>
                </a:solidFill>
              </a:rPr>
              <a:t>Maximising the return on investment</a:t>
            </a:r>
          </a:p>
        </p:txBody>
      </p:sp>
      <p:sp>
        <p:nvSpPr>
          <p:cNvPr id="4" name="TextBox 3"/>
          <p:cNvSpPr txBox="1"/>
          <p:nvPr/>
        </p:nvSpPr>
        <p:spPr>
          <a:xfrm>
            <a:off x="502920" y="932688"/>
            <a:ext cx="8686800" cy="365760"/>
          </a:xfrm>
          <a:prstGeom prst="rect">
            <a:avLst/>
          </a:prstGeom>
          <a:noFill/>
        </p:spPr>
        <p:txBody>
          <a:bodyPr wrap="square">
            <a:spAutoFit/>
          </a:bodyPr>
          <a:lstStyle/>
          <a:p>
            <a:pPr algn="l"/>
            <a:r>
              <a:rPr sz="1300" b="0" i="0">
                <a:solidFill>
                  <a:srgbClr val="00C4CC"/>
                </a:solidFill>
              </a:rPr>
              <a:t>Getting the right member on the right program at the right time.</a:t>
            </a:r>
          </a:p>
        </p:txBody>
      </p:sp>
      <p:sp>
        <p:nvSpPr>
          <p:cNvPr id="5" name="TextBox 4"/>
          <p:cNvSpPr txBox="1"/>
          <p:nvPr/>
        </p:nvSpPr>
        <p:spPr>
          <a:xfrm>
            <a:off x="502920" y="1508760"/>
            <a:ext cx="1417320" cy="347472"/>
          </a:xfrm>
          <a:prstGeom prst="rect">
            <a:avLst/>
          </a:prstGeom>
          <a:noFill/>
        </p:spPr>
        <p:txBody>
          <a:bodyPr wrap="square">
            <a:spAutoFit/>
          </a:bodyPr>
          <a:lstStyle/>
          <a:p>
            <a:pPr algn="l"/>
            <a:r>
              <a:rPr sz="1100" b="1" i="0">
                <a:solidFill>
                  <a:srgbClr val="1F2937"/>
                </a:solidFill>
              </a:rPr>
              <a:t>Right people:</a:t>
            </a:r>
          </a:p>
        </p:txBody>
      </p:sp>
      <p:sp>
        <p:nvSpPr>
          <p:cNvPr id="6" name="TextBox 5"/>
          <p:cNvSpPr txBox="1"/>
          <p:nvPr/>
        </p:nvSpPr>
        <p:spPr>
          <a:xfrm>
            <a:off x="1965960" y="1508760"/>
            <a:ext cx="5303520" cy="777240"/>
          </a:xfrm>
          <a:prstGeom prst="rect">
            <a:avLst/>
          </a:prstGeom>
          <a:noFill/>
        </p:spPr>
        <p:txBody>
          <a:bodyPr wrap="square">
            <a:spAutoFit/>
          </a:bodyPr>
          <a:lstStyle/>
          <a:p>
            <a:pPr algn="l"/>
            <a:r>
              <a:rPr sz="1100" b="0" i="0">
                <a:solidFill>
                  <a:srgbClr val="444444"/>
                </a:solidFill>
              </a:rPr>
              <a:t>Identifying and investing in those with poor health habits, existing risks, high claims costs or whose poor health will cost the most in the future.</a:t>
            </a:r>
          </a:p>
        </p:txBody>
      </p:sp>
      <p:sp>
        <p:nvSpPr>
          <p:cNvPr id="7" name="TextBox 6"/>
          <p:cNvSpPr txBox="1"/>
          <p:nvPr/>
        </p:nvSpPr>
        <p:spPr>
          <a:xfrm>
            <a:off x="502920" y="2423160"/>
            <a:ext cx="1417320" cy="347472"/>
          </a:xfrm>
          <a:prstGeom prst="rect">
            <a:avLst/>
          </a:prstGeom>
          <a:noFill/>
        </p:spPr>
        <p:txBody>
          <a:bodyPr wrap="square">
            <a:spAutoFit/>
          </a:bodyPr>
          <a:lstStyle/>
          <a:p>
            <a:pPr algn="l"/>
            <a:r>
              <a:rPr sz="1100" b="1" i="0">
                <a:solidFill>
                  <a:srgbClr val="1F2937"/>
                </a:solidFill>
              </a:rPr>
              <a:t>Right program:</a:t>
            </a:r>
          </a:p>
        </p:txBody>
      </p:sp>
      <p:sp>
        <p:nvSpPr>
          <p:cNvPr id="8" name="TextBox 7"/>
          <p:cNvSpPr txBox="1"/>
          <p:nvPr/>
        </p:nvSpPr>
        <p:spPr>
          <a:xfrm>
            <a:off x="1965960" y="2423160"/>
            <a:ext cx="5303520" cy="777240"/>
          </a:xfrm>
          <a:prstGeom prst="rect">
            <a:avLst/>
          </a:prstGeom>
          <a:noFill/>
        </p:spPr>
        <p:txBody>
          <a:bodyPr wrap="square">
            <a:spAutoFit/>
          </a:bodyPr>
          <a:lstStyle/>
          <a:p>
            <a:pPr algn="l"/>
            <a:r>
              <a:rPr sz="1100" b="0" i="0">
                <a:solidFill>
                  <a:srgbClr val="444444"/>
                </a:solidFill>
              </a:rPr>
              <a:t>Matching content, commitment level and anticipated outcomes. We work with each customer to develop a tailored triage approach, moving members into the right program at the right time.</a:t>
            </a:r>
          </a:p>
        </p:txBody>
      </p:sp>
      <p:sp>
        <p:nvSpPr>
          <p:cNvPr id="9" name="TextBox 8"/>
          <p:cNvSpPr txBox="1"/>
          <p:nvPr/>
        </p:nvSpPr>
        <p:spPr>
          <a:xfrm>
            <a:off x="502920" y="3337560"/>
            <a:ext cx="1417320" cy="347472"/>
          </a:xfrm>
          <a:prstGeom prst="rect">
            <a:avLst/>
          </a:prstGeom>
          <a:noFill/>
        </p:spPr>
        <p:txBody>
          <a:bodyPr wrap="square">
            <a:spAutoFit/>
          </a:bodyPr>
          <a:lstStyle/>
          <a:p>
            <a:pPr algn="l"/>
            <a:r>
              <a:rPr sz="1100" b="1" i="0">
                <a:solidFill>
                  <a:srgbClr val="1F2937"/>
                </a:solidFill>
              </a:rPr>
              <a:t>Right time:</a:t>
            </a:r>
          </a:p>
        </p:txBody>
      </p:sp>
      <p:sp>
        <p:nvSpPr>
          <p:cNvPr id="10" name="TextBox 9"/>
          <p:cNvSpPr txBox="1"/>
          <p:nvPr/>
        </p:nvSpPr>
        <p:spPr>
          <a:xfrm>
            <a:off x="1965960" y="3337560"/>
            <a:ext cx="5303520" cy="777240"/>
          </a:xfrm>
          <a:prstGeom prst="rect">
            <a:avLst/>
          </a:prstGeom>
          <a:noFill/>
        </p:spPr>
        <p:txBody>
          <a:bodyPr wrap="square">
            <a:spAutoFit/>
          </a:bodyPr>
          <a:lstStyle/>
          <a:p>
            <a:pPr algn="l"/>
            <a:r>
              <a:rPr sz="1100" b="0" i="0">
                <a:solidFill>
                  <a:srgbClr val="444444"/>
                </a:solidFill>
              </a:rPr>
              <a:t>Ability to engage members when they are at the right stage of change and ready to commit to taking action, with year-round program availability.</a:t>
            </a:r>
          </a:p>
        </p:txBody>
      </p:sp>
      <p:sp>
        <p:nvSpPr>
          <p:cNvPr id="11" name="Rectangle 10"/>
          <p:cNvSpPr/>
          <p:nvPr/>
        </p:nvSpPr>
        <p:spPr>
          <a:xfrm>
            <a:off x="7498079" y="1280160"/>
            <a:ext cx="2011680" cy="150876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7807" y="1417319"/>
            <a:ext cx="1792224" cy="347472"/>
          </a:xfrm>
          <a:prstGeom prst="rect">
            <a:avLst/>
          </a:prstGeom>
          <a:noFill/>
        </p:spPr>
        <p:txBody>
          <a:bodyPr wrap="square">
            <a:spAutoFit/>
          </a:bodyPr>
          <a:lstStyle/>
          <a:p>
            <a:pPr algn="l"/>
            <a:r>
              <a:rPr sz="1000" b="1" i="0">
                <a:solidFill>
                  <a:srgbClr val="FFFFFF"/>
                </a:solidFill>
              </a:rPr>
              <a:t>Right People</a:t>
            </a:r>
          </a:p>
        </p:txBody>
      </p:sp>
      <p:sp>
        <p:nvSpPr>
          <p:cNvPr id="13" name="TextBox 12"/>
          <p:cNvSpPr txBox="1"/>
          <p:nvPr/>
        </p:nvSpPr>
        <p:spPr>
          <a:xfrm>
            <a:off x="7607807" y="1783080"/>
            <a:ext cx="1792224" cy="896112"/>
          </a:xfrm>
          <a:prstGeom prst="rect">
            <a:avLst/>
          </a:prstGeom>
          <a:noFill/>
        </p:spPr>
        <p:txBody>
          <a:bodyPr wrap="square">
            <a:spAutoFit/>
          </a:bodyPr>
          <a:lstStyle/>
          <a:p>
            <a:pPr algn="l"/>
            <a:r>
              <a:rPr sz="900" b="0" i="0">
                <a:solidFill>
                  <a:srgbClr val="FFFFFF"/>
                </a:solidFill>
              </a:rPr>
              <a:t>Those that need
support and help
to change.</a:t>
            </a:r>
          </a:p>
        </p:txBody>
      </p:sp>
      <p:sp>
        <p:nvSpPr>
          <p:cNvPr id="14" name="Rectangle 13"/>
          <p:cNvSpPr/>
          <p:nvPr/>
        </p:nvSpPr>
        <p:spPr>
          <a:xfrm>
            <a:off x="9692640" y="1280160"/>
            <a:ext cx="2011680" cy="150876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02367" y="1417319"/>
            <a:ext cx="1792224" cy="347472"/>
          </a:xfrm>
          <a:prstGeom prst="rect">
            <a:avLst/>
          </a:prstGeom>
          <a:noFill/>
        </p:spPr>
        <p:txBody>
          <a:bodyPr wrap="square">
            <a:spAutoFit/>
          </a:bodyPr>
          <a:lstStyle/>
          <a:p>
            <a:pPr algn="l"/>
            <a:r>
              <a:rPr sz="1000" b="1" i="0">
                <a:solidFill>
                  <a:srgbClr val="FFFFFF"/>
                </a:solidFill>
              </a:rPr>
              <a:t>Right Program</a:t>
            </a:r>
          </a:p>
        </p:txBody>
      </p:sp>
      <p:sp>
        <p:nvSpPr>
          <p:cNvPr id="16" name="TextBox 15"/>
          <p:cNvSpPr txBox="1"/>
          <p:nvPr/>
        </p:nvSpPr>
        <p:spPr>
          <a:xfrm>
            <a:off x="9802367" y="1783080"/>
            <a:ext cx="1792224" cy="896112"/>
          </a:xfrm>
          <a:prstGeom prst="rect">
            <a:avLst/>
          </a:prstGeom>
          <a:noFill/>
        </p:spPr>
        <p:txBody>
          <a:bodyPr wrap="square">
            <a:spAutoFit/>
          </a:bodyPr>
          <a:lstStyle/>
          <a:p>
            <a:pPr algn="l"/>
            <a:r>
              <a:rPr sz="900" b="0" i="0">
                <a:solidFill>
                  <a:srgbClr val="FFFFFF"/>
                </a:solidFill>
              </a:rPr>
              <a:t>Enrolment and
outcome criteria.</a:t>
            </a:r>
          </a:p>
        </p:txBody>
      </p:sp>
      <p:sp>
        <p:nvSpPr>
          <p:cNvPr id="17" name="Rectangle 16"/>
          <p:cNvSpPr/>
          <p:nvPr/>
        </p:nvSpPr>
        <p:spPr>
          <a:xfrm>
            <a:off x="8595360" y="3200400"/>
            <a:ext cx="2011680" cy="1508760"/>
          </a:xfrm>
          <a:prstGeom prst="rect">
            <a:avLst/>
          </a:prstGeom>
          <a:solidFill>
            <a:srgbClr val="009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05088" y="3337560"/>
            <a:ext cx="1792224" cy="347472"/>
          </a:xfrm>
          <a:prstGeom prst="rect">
            <a:avLst/>
          </a:prstGeom>
          <a:noFill/>
        </p:spPr>
        <p:txBody>
          <a:bodyPr wrap="square">
            <a:spAutoFit/>
          </a:bodyPr>
          <a:lstStyle/>
          <a:p>
            <a:pPr algn="l"/>
            <a:r>
              <a:rPr sz="1000" b="1" i="0">
                <a:solidFill>
                  <a:srgbClr val="FFFFFF"/>
                </a:solidFill>
              </a:rPr>
              <a:t>Right Time</a:t>
            </a:r>
          </a:p>
        </p:txBody>
      </p:sp>
      <p:sp>
        <p:nvSpPr>
          <p:cNvPr id="19" name="TextBox 18"/>
          <p:cNvSpPr txBox="1"/>
          <p:nvPr/>
        </p:nvSpPr>
        <p:spPr>
          <a:xfrm>
            <a:off x="8705088" y="3703320"/>
            <a:ext cx="1792224" cy="896112"/>
          </a:xfrm>
          <a:prstGeom prst="rect">
            <a:avLst/>
          </a:prstGeom>
          <a:noFill/>
        </p:spPr>
        <p:txBody>
          <a:bodyPr wrap="square">
            <a:spAutoFit/>
          </a:bodyPr>
          <a:lstStyle/>
          <a:p>
            <a:pPr algn="l"/>
            <a:r>
              <a:rPr sz="900" b="0" i="0">
                <a:solidFill>
                  <a:srgbClr val="FFFFFF"/>
                </a:solidFill>
              </a:rPr>
              <a:t>Committed and
ready to change.</a:t>
            </a:r>
          </a:p>
        </p:txBody>
      </p:sp>
      <p:sp>
        <p:nvSpPr>
          <p:cNvPr id="20" name="TextBox 19"/>
          <p:cNvSpPr txBox="1"/>
          <p:nvPr/>
        </p:nvSpPr>
        <p:spPr>
          <a:xfrm>
            <a:off x="8686800" y="2240280"/>
            <a:ext cx="1463040" cy="731520"/>
          </a:xfrm>
          <a:prstGeom prst="rect">
            <a:avLst/>
          </a:prstGeom>
          <a:noFill/>
        </p:spPr>
        <p:txBody>
          <a:bodyPr wrap="square">
            <a:spAutoFit/>
          </a:bodyPr>
          <a:lstStyle/>
          <a:p>
            <a:pPr algn="ctr"/>
            <a:r>
              <a:rPr sz="1600" b="1" i="0">
                <a:solidFill>
                  <a:srgbClr val="1A2B47"/>
                </a:solidFill>
              </a:rPr>
              <a:t>Maximum
ROI</a:t>
            </a:r>
          </a:p>
        </p:txBody>
      </p:sp>
      <p:sp>
        <p:nvSpPr>
          <p:cNvPr id="21" name="Rectangle 20"/>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23" name="TextBox 22"/>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24" name="TextBox 23"/>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274320"/>
            <a:ext cx="3200400" cy="612648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25879" y="3154679"/>
            <a:ext cx="1097280" cy="365760"/>
          </a:xfrm>
          <a:prstGeom prst="rect">
            <a:avLst/>
          </a:prstGeom>
          <a:noFill/>
        </p:spPr>
        <p:txBody>
          <a:bodyPr wrap="square">
            <a:spAutoFit/>
          </a:bodyPr>
          <a:lstStyle/>
          <a:p>
            <a:pPr algn="ctr"/>
            <a:r>
              <a:rPr sz="900" b="0" i="0">
                <a:solidFill>
                  <a:srgbClr val="888888"/>
                </a:solidFill>
              </a:rPr>
              <a:t>[ Partner meeting photo ]</a:t>
            </a:r>
          </a:p>
        </p:txBody>
      </p:sp>
      <p:sp>
        <p:nvSpPr>
          <p:cNvPr id="5" name="TextBox 4"/>
          <p:cNvSpPr txBox="1"/>
          <p:nvPr/>
        </p:nvSpPr>
        <p:spPr>
          <a:xfrm>
            <a:off x="3840480" y="347472"/>
            <a:ext cx="7955279" cy="548640"/>
          </a:xfrm>
          <a:prstGeom prst="rect">
            <a:avLst/>
          </a:prstGeom>
          <a:noFill/>
        </p:spPr>
        <p:txBody>
          <a:bodyPr wrap="square">
            <a:spAutoFit/>
          </a:bodyPr>
          <a:lstStyle/>
          <a:p>
            <a:pPr algn="l"/>
            <a:r>
              <a:rPr sz="2400" b="1" i="0">
                <a:solidFill>
                  <a:srgbClr val="1F2937"/>
                </a:solidFill>
              </a:rPr>
              <a:t>How it works</a:t>
            </a:r>
          </a:p>
        </p:txBody>
      </p:sp>
      <p:sp>
        <p:nvSpPr>
          <p:cNvPr id="6" name="TextBox 5"/>
          <p:cNvSpPr txBox="1"/>
          <p:nvPr/>
        </p:nvSpPr>
        <p:spPr>
          <a:xfrm>
            <a:off x="3840480" y="896112"/>
            <a:ext cx="7772400" cy="347472"/>
          </a:xfrm>
          <a:prstGeom prst="rect">
            <a:avLst/>
          </a:prstGeom>
          <a:noFill/>
        </p:spPr>
        <p:txBody>
          <a:bodyPr wrap="square">
            <a:spAutoFit/>
          </a:bodyPr>
          <a:lstStyle/>
          <a:p>
            <a:pPr algn="l"/>
            <a:r>
              <a:rPr sz="1100" b="0" i="0">
                <a:solidFill>
                  <a:srgbClr val="00C4CC"/>
                </a:solidFill>
              </a:rPr>
              <a:t>We work with you to build the right solution for your members and patients.</a:t>
            </a:r>
          </a:p>
        </p:txBody>
      </p:sp>
      <p:sp>
        <p:nvSpPr>
          <p:cNvPr id="7" name="TextBox 6"/>
          <p:cNvSpPr txBox="1"/>
          <p:nvPr/>
        </p:nvSpPr>
        <p:spPr>
          <a:xfrm>
            <a:off x="3840480" y="1371600"/>
            <a:ext cx="2514600" cy="320040"/>
          </a:xfrm>
          <a:prstGeom prst="rect">
            <a:avLst/>
          </a:prstGeom>
          <a:noFill/>
        </p:spPr>
        <p:txBody>
          <a:bodyPr wrap="square">
            <a:spAutoFit/>
          </a:bodyPr>
          <a:lstStyle/>
          <a:p>
            <a:pPr algn="l"/>
            <a:r>
              <a:rPr sz="1000" b="1" i="0">
                <a:solidFill>
                  <a:srgbClr val="00C4CC"/>
                </a:solidFill>
              </a:rPr>
              <a:t>✓ Your success is our success</a:t>
            </a:r>
          </a:p>
        </p:txBody>
      </p:sp>
      <p:sp>
        <p:nvSpPr>
          <p:cNvPr id="8" name="TextBox 7"/>
          <p:cNvSpPr txBox="1"/>
          <p:nvPr/>
        </p:nvSpPr>
        <p:spPr>
          <a:xfrm>
            <a:off x="6446520" y="1371600"/>
            <a:ext cx="2514600" cy="320040"/>
          </a:xfrm>
          <a:prstGeom prst="rect">
            <a:avLst/>
          </a:prstGeom>
          <a:noFill/>
        </p:spPr>
        <p:txBody>
          <a:bodyPr wrap="square">
            <a:spAutoFit/>
          </a:bodyPr>
          <a:lstStyle/>
          <a:p>
            <a:pPr algn="l"/>
            <a:r>
              <a:rPr sz="1000" b="1" i="0">
                <a:solidFill>
                  <a:srgbClr val="00C4CC"/>
                </a:solidFill>
              </a:rPr>
              <a:t>✓ Lower costs</a:t>
            </a:r>
          </a:p>
        </p:txBody>
      </p:sp>
      <p:sp>
        <p:nvSpPr>
          <p:cNvPr id="9" name="TextBox 8"/>
          <p:cNvSpPr txBox="1"/>
          <p:nvPr/>
        </p:nvSpPr>
        <p:spPr>
          <a:xfrm>
            <a:off x="9052560" y="1371600"/>
            <a:ext cx="2514600" cy="320040"/>
          </a:xfrm>
          <a:prstGeom prst="rect">
            <a:avLst/>
          </a:prstGeom>
          <a:noFill/>
        </p:spPr>
        <p:txBody>
          <a:bodyPr wrap="square">
            <a:spAutoFit/>
          </a:bodyPr>
          <a:lstStyle/>
          <a:p>
            <a:pPr algn="l"/>
            <a:r>
              <a:rPr sz="1000" b="1" i="0">
                <a:solidFill>
                  <a:srgbClr val="00C4CC"/>
                </a:solidFill>
              </a:rPr>
              <a:t>✓ Increased outcomes</a:t>
            </a:r>
          </a:p>
        </p:txBody>
      </p:sp>
      <p:sp>
        <p:nvSpPr>
          <p:cNvPr id="10" name="Rectangle 9"/>
          <p:cNvSpPr/>
          <p:nvPr/>
        </p:nvSpPr>
        <p:spPr>
          <a:xfrm>
            <a:off x="3749039" y="1874519"/>
            <a:ext cx="1645920" cy="201168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749039" y="1874519"/>
            <a:ext cx="1645920" cy="34747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58768" y="1929384"/>
            <a:ext cx="1426464" cy="256032"/>
          </a:xfrm>
          <a:prstGeom prst="rect">
            <a:avLst/>
          </a:prstGeom>
          <a:noFill/>
        </p:spPr>
        <p:txBody>
          <a:bodyPr wrap="square">
            <a:spAutoFit/>
          </a:bodyPr>
          <a:lstStyle/>
          <a:p>
            <a:pPr algn="l"/>
            <a:r>
              <a:rPr sz="1000" b="1" i="0">
                <a:solidFill>
                  <a:srgbClr val="FFFFFF"/>
                </a:solidFill>
              </a:rPr>
              <a:t>Step 1: Build</a:t>
            </a:r>
          </a:p>
        </p:txBody>
      </p:sp>
      <p:sp>
        <p:nvSpPr>
          <p:cNvPr id="13" name="TextBox 12"/>
          <p:cNvSpPr txBox="1"/>
          <p:nvPr/>
        </p:nvSpPr>
        <p:spPr>
          <a:xfrm>
            <a:off x="3858768" y="2295144"/>
            <a:ext cx="1426464" cy="329184"/>
          </a:xfrm>
          <a:prstGeom prst="rect">
            <a:avLst/>
          </a:prstGeom>
          <a:noFill/>
        </p:spPr>
        <p:txBody>
          <a:bodyPr wrap="square">
            <a:spAutoFit/>
          </a:bodyPr>
          <a:lstStyle/>
          <a:p>
            <a:pPr algn="l"/>
            <a:r>
              <a:rPr sz="1100" b="1" i="0">
                <a:solidFill>
                  <a:srgbClr val="1F2937"/>
                </a:solidFill>
              </a:rPr>
              <a:t/>
            </a:r>
          </a:p>
        </p:txBody>
      </p:sp>
      <p:sp>
        <p:nvSpPr>
          <p:cNvPr id="14" name="TextBox 13"/>
          <p:cNvSpPr txBox="1"/>
          <p:nvPr/>
        </p:nvSpPr>
        <p:spPr>
          <a:xfrm>
            <a:off x="3858768" y="2660903"/>
            <a:ext cx="1426464" cy="1143000"/>
          </a:xfrm>
          <a:prstGeom prst="rect">
            <a:avLst/>
          </a:prstGeom>
          <a:noFill/>
        </p:spPr>
        <p:txBody>
          <a:bodyPr wrap="square">
            <a:spAutoFit/>
          </a:bodyPr>
          <a:lstStyle/>
          <a:p>
            <a:pPr algn="l"/>
            <a:r>
              <a:rPr sz="900" b="0" i="0">
                <a:solidFill>
                  <a:srgbClr val="444444"/>
                </a:solidFill>
              </a:rPr>
              <a:t>We help you choose a core solution(s) that will meet your business objectives, in line with your budget.</a:t>
            </a:r>
          </a:p>
        </p:txBody>
      </p:sp>
      <p:sp>
        <p:nvSpPr>
          <p:cNvPr id="15" name="Rectangle 14"/>
          <p:cNvSpPr/>
          <p:nvPr/>
        </p:nvSpPr>
        <p:spPr>
          <a:xfrm>
            <a:off x="3749039" y="1874519"/>
            <a:ext cx="1645920" cy="34747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94760" y="1920240"/>
            <a:ext cx="1554480" cy="310896"/>
          </a:xfrm>
          <a:prstGeom prst="rect">
            <a:avLst/>
          </a:prstGeom>
          <a:noFill/>
        </p:spPr>
        <p:txBody>
          <a:bodyPr wrap="square">
            <a:spAutoFit/>
          </a:bodyPr>
          <a:lstStyle/>
          <a:p>
            <a:pPr algn="l"/>
            <a:r>
              <a:rPr sz="800" b="1" i="0">
                <a:solidFill>
                  <a:srgbClr val="FFFFFF"/>
                </a:solidFill>
              </a:rPr>
              <a:t>Step 1: Build</a:t>
            </a:r>
          </a:p>
        </p:txBody>
      </p:sp>
      <p:sp>
        <p:nvSpPr>
          <p:cNvPr id="17" name="Rectangle 16"/>
          <p:cNvSpPr/>
          <p:nvPr/>
        </p:nvSpPr>
        <p:spPr>
          <a:xfrm>
            <a:off x="5431536" y="1874519"/>
            <a:ext cx="1645920" cy="201168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31536" y="1874519"/>
            <a:ext cx="1645920" cy="34747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41264" y="1929384"/>
            <a:ext cx="1426464" cy="256032"/>
          </a:xfrm>
          <a:prstGeom prst="rect">
            <a:avLst/>
          </a:prstGeom>
          <a:noFill/>
        </p:spPr>
        <p:txBody>
          <a:bodyPr wrap="square">
            <a:spAutoFit/>
          </a:bodyPr>
          <a:lstStyle/>
          <a:p>
            <a:pPr algn="l"/>
            <a:r>
              <a:rPr sz="1000" b="1" i="0">
                <a:solidFill>
                  <a:srgbClr val="FFFFFF"/>
                </a:solidFill>
              </a:rPr>
              <a:t>Step 2: Assess</a:t>
            </a:r>
          </a:p>
        </p:txBody>
      </p:sp>
      <p:sp>
        <p:nvSpPr>
          <p:cNvPr id="20" name="TextBox 19"/>
          <p:cNvSpPr txBox="1"/>
          <p:nvPr/>
        </p:nvSpPr>
        <p:spPr>
          <a:xfrm>
            <a:off x="5541264" y="2295144"/>
            <a:ext cx="1426464" cy="329184"/>
          </a:xfrm>
          <a:prstGeom prst="rect">
            <a:avLst/>
          </a:prstGeom>
          <a:noFill/>
        </p:spPr>
        <p:txBody>
          <a:bodyPr wrap="square">
            <a:spAutoFit/>
          </a:bodyPr>
          <a:lstStyle/>
          <a:p>
            <a:pPr algn="l"/>
            <a:r>
              <a:rPr sz="1100" b="1" i="0">
                <a:solidFill>
                  <a:srgbClr val="1F2937"/>
                </a:solidFill>
              </a:rPr>
              <a:t/>
            </a:r>
          </a:p>
        </p:txBody>
      </p:sp>
      <p:sp>
        <p:nvSpPr>
          <p:cNvPr id="21" name="TextBox 20"/>
          <p:cNvSpPr txBox="1"/>
          <p:nvPr/>
        </p:nvSpPr>
        <p:spPr>
          <a:xfrm>
            <a:off x="5541264" y="2660903"/>
            <a:ext cx="1426464" cy="1143000"/>
          </a:xfrm>
          <a:prstGeom prst="rect">
            <a:avLst/>
          </a:prstGeom>
          <a:noFill/>
        </p:spPr>
        <p:txBody>
          <a:bodyPr wrap="square">
            <a:spAutoFit/>
          </a:bodyPr>
          <a:lstStyle/>
          <a:p>
            <a:pPr algn="l"/>
            <a:r>
              <a:rPr sz="900" b="0" i="0">
                <a:solidFill>
                  <a:srgbClr val="444444"/>
                </a:solidFill>
              </a:rPr>
              <a:t>Based on your budget, desired outcomes and optional extras, we create options to walk you through.</a:t>
            </a:r>
          </a:p>
        </p:txBody>
      </p:sp>
      <p:sp>
        <p:nvSpPr>
          <p:cNvPr id="22" name="Rectangle 21"/>
          <p:cNvSpPr/>
          <p:nvPr/>
        </p:nvSpPr>
        <p:spPr>
          <a:xfrm>
            <a:off x="5431536" y="1874519"/>
            <a:ext cx="1645920" cy="34747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77256" y="1920240"/>
            <a:ext cx="1554480" cy="310896"/>
          </a:xfrm>
          <a:prstGeom prst="rect">
            <a:avLst/>
          </a:prstGeom>
          <a:noFill/>
        </p:spPr>
        <p:txBody>
          <a:bodyPr wrap="square">
            <a:spAutoFit/>
          </a:bodyPr>
          <a:lstStyle/>
          <a:p>
            <a:pPr algn="l"/>
            <a:r>
              <a:rPr sz="800" b="1" i="0">
                <a:solidFill>
                  <a:srgbClr val="FFFFFF"/>
                </a:solidFill>
              </a:rPr>
              <a:t>Step 2: Assess</a:t>
            </a:r>
          </a:p>
        </p:txBody>
      </p:sp>
      <p:sp>
        <p:nvSpPr>
          <p:cNvPr id="24" name="Rectangle 23"/>
          <p:cNvSpPr/>
          <p:nvPr/>
        </p:nvSpPr>
        <p:spPr>
          <a:xfrm>
            <a:off x="7114031" y="1874519"/>
            <a:ext cx="1645920" cy="201168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14031" y="1874519"/>
            <a:ext cx="1645920" cy="34747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59" y="1929384"/>
            <a:ext cx="1426464" cy="256032"/>
          </a:xfrm>
          <a:prstGeom prst="rect">
            <a:avLst/>
          </a:prstGeom>
          <a:noFill/>
        </p:spPr>
        <p:txBody>
          <a:bodyPr wrap="square">
            <a:spAutoFit/>
          </a:bodyPr>
          <a:lstStyle/>
          <a:p>
            <a:pPr algn="l"/>
            <a:r>
              <a:rPr sz="1000" b="1" i="0">
                <a:solidFill>
                  <a:srgbClr val="FFFFFF"/>
                </a:solidFill>
              </a:rPr>
              <a:t>Step 3: Sign</a:t>
            </a:r>
          </a:p>
        </p:txBody>
      </p:sp>
      <p:sp>
        <p:nvSpPr>
          <p:cNvPr id="27" name="TextBox 26"/>
          <p:cNvSpPr txBox="1"/>
          <p:nvPr/>
        </p:nvSpPr>
        <p:spPr>
          <a:xfrm>
            <a:off x="7223759" y="2295144"/>
            <a:ext cx="1426464" cy="329184"/>
          </a:xfrm>
          <a:prstGeom prst="rect">
            <a:avLst/>
          </a:prstGeom>
          <a:noFill/>
        </p:spPr>
        <p:txBody>
          <a:bodyPr wrap="square">
            <a:spAutoFit/>
          </a:bodyPr>
          <a:lstStyle/>
          <a:p>
            <a:pPr algn="l"/>
            <a:r>
              <a:rPr sz="1100" b="1" i="0">
                <a:solidFill>
                  <a:srgbClr val="1F2937"/>
                </a:solidFill>
              </a:rPr>
              <a:t/>
            </a:r>
          </a:p>
        </p:txBody>
      </p:sp>
      <p:sp>
        <p:nvSpPr>
          <p:cNvPr id="28" name="TextBox 27"/>
          <p:cNvSpPr txBox="1"/>
          <p:nvPr/>
        </p:nvSpPr>
        <p:spPr>
          <a:xfrm>
            <a:off x="7223759" y="2660903"/>
            <a:ext cx="1426464" cy="1143000"/>
          </a:xfrm>
          <a:prstGeom prst="rect">
            <a:avLst/>
          </a:prstGeom>
          <a:noFill/>
        </p:spPr>
        <p:txBody>
          <a:bodyPr wrap="square">
            <a:spAutoFit/>
          </a:bodyPr>
          <a:lstStyle/>
          <a:p>
            <a:pPr algn="l"/>
            <a:r>
              <a:rPr sz="900" b="0" i="0">
                <a:solidFill>
                  <a:srgbClr val="444444"/>
                </a:solidFill>
              </a:rPr>
              <a:t>Once a solution has been agreed, we move to contract stage and begin building the launch plan.</a:t>
            </a:r>
          </a:p>
        </p:txBody>
      </p:sp>
      <p:sp>
        <p:nvSpPr>
          <p:cNvPr id="29" name="Rectangle 28"/>
          <p:cNvSpPr/>
          <p:nvPr/>
        </p:nvSpPr>
        <p:spPr>
          <a:xfrm>
            <a:off x="7114031" y="1874519"/>
            <a:ext cx="1645920" cy="34747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59752" y="1920240"/>
            <a:ext cx="1554480" cy="310896"/>
          </a:xfrm>
          <a:prstGeom prst="rect">
            <a:avLst/>
          </a:prstGeom>
          <a:noFill/>
        </p:spPr>
        <p:txBody>
          <a:bodyPr wrap="square">
            <a:spAutoFit/>
          </a:bodyPr>
          <a:lstStyle/>
          <a:p>
            <a:pPr algn="l"/>
            <a:r>
              <a:rPr sz="800" b="1" i="0">
                <a:solidFill>
                  <a:srgbClr val="FFFFFF"/>
                </a:solidFill>
              </a:rPr>
              <a:t>Step 3: Sign</a:t>
            </a:r>
          </a:p>
        </p:txBody>
      </p:sp>
      <p:sp>
        <p:nvSpPr>
          <p:cNvPr id="31" name="Rectangle 30"/>
          <p:cNvSpPr/>
          <p:nvPr/>
        </p:nvSpPr>
        <p:spPr>
          <a:xfrm>
            <a:off x="8796528" y="1874519"/>
            <a:ext cx="1645920" cy="201168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796528" y="1874519"/>
            <a:ext cx="1645920" cy="34747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06256" y="1929384"/>
            <a:ext cx="1426464" cy="256032"/>
          </a:xfrm>
          <a:prstGeom prst="rect">
            <a:avLst/>
          </a:prstGeom>
          <a:noFill/>
        </p:spPr>
        <p:txBody>
          <a:bodyPr wrap="square">
            <a:spAutoFit/>
          </a:bodyPr>
          <a:lstStyle/>
          <a:p>
            <a:pPr algn="l"/>
            <a:r>
              <a:rPr sz="1000" b="1" i="0">
                <a:solidFill>
                  <a:srgbClr val="FFFFFF"/>
                </a:solidFill>
              </a:rPr>
              <a:t>Step 4: Launch Plan</a:t>
            </a:r>
          </a:p>
        </p:txBody>
      </p:sp>
      <p:sp>
        <p:nvSpPr>
          <p:cNvPr id="34" name="TextBox 33"/>
          <p:cNvSpPr txBox="1"/>
          <p:nvPr/>
        </p:nvSpPr>
        <p:spPr>
          <a:xfrm>
            <a:off x="8906256" y="2295144"/>
            <a:ext cx="1426464" cy="329184"/>
          </a:xfrm>
          <a:prstGeom prst="rect">
            <a:avLst/>
          </a:prstGeom>
          <a:noFill/>
        </p:spPr>
        <p:txBody>
          <a:bodyPr wrap="square">
            <a:spAutoFit/>
          </a:bodyPr>
          <a:lstStyle/>
          <a:p>
            <a:pPr algn="l"/>
            <a:r>
              <a:rPr sz="1100" b="1" i="0">
                <a:solidFill>
                  <a:srgbClr val="1F2937"/>
                </a:solidFill>
              </a:rPr>
              <a:t/>
            </a:r>
          </a:p>
        </p:txBody>
      </p:sp>
      <p:sp>
        <p:nvSpPr>
          <p:cNvPr id="35" name="TextBox 34"/>
          <p:cNvSpPr txBox="1"/>
          <p:nvPr/>
        </p:nvSpPr>
        <p:spPr>
          <a:xfrm>
            <a:off x="8906256" y="2660903"/>
            <a:ext cx="1426464" cy="1143000"/>
          </a:xfrm>
          <a:prstGeom prst="rect">
            <a:avLst/>
          </a:prstGeom>
          <a:noFill/>
        </p:spPr>
        <p:txBody>
          <a:bodyPr wrap="square">
            <a:spAutoFit/>
          </a:bodyPr>
          <a:lstStyle/>
          <a:p>
            <a:pPr algn="l"/>
            <a:r>
              <a:rPr sz="900" b="0" i="0">
                <a:solidFill>
                  <a:srgbClr val="444444"/>
                </a:solidFill>
              </a:rPr>
              <a:t>We introduce teams, create supporting assets including marketing assistance, best practices and staff training.</a:t>
            </a:r>
          </a:p>
        </p:txBody>
      </p:sp>
      <p:sp>
        <p:nvSpPr>
          <p:cNvPr id="36" name="Rectangle 35"/>
          <p:cNvSpPr/>
          <p:nvPr/>
        </p:nvSpPr>
        <p:spPr>
          <a:xfrm>
            <a:off x="8796528" y="1874519"/>
            <a:ext cx="1645920" cy="34747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42248" y="1920240"/>
            <a:ext cx="1554480" cy="310896"/>
          </a:xfrm>
          <a:prstGeom prst="rect">
            <a:avLst/>
          </a:prstGeom>
          <a:noFill/>
        </p:spPr>
        <p:txBody>
          <a:bodyPr wrap="square">
            <a:spAutoFit/>
          </a:bodyPr>
          <a:lstStyle/>
          <a:p>
            <a:pPr algn="l"/>
            <a:r>
              <a:rPr sz="800" b="1" i="0">
                <a:solidFill>
                  <a:srgbClr val="FFFFFF"/>
                </a:solidFill>
              </a:rPr>
              <a:t>Step 4: Launch Plan</a:t>
            </a:r>
          </a:p>
        </p:txBody>
      </p:sp>
      <p:sp>
        <p:nvSpPr>
          <p:cNvPr id="38" name="Rectangle 37"/>
          <p:cNvSpPr/>
          <p:nvPr/>
        </p:nvSpPr>
        <p:spPr>
          <a:xfrm>
            <a:off x="10479024" y="1874519"/>
            <a:ext cx="1645920" cy="201168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79024" y="1874519"/>
            <a:ext cx="1645920" cy="34747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88752" y="1929384"/>
            <a:ext cx="1426464" cy="256032"/>
          </a:xfrm>
          <a:prstGeom prst="rect">
            <a:avLst/>
          </a:prstGeom>
          <a:noFill/>
        </p:spPr>
        <p:txBody>
          <a:bodyPr wrap="square">
            <a:spAutoFit/>
          </a:bodyPr>
          <a:lstStyle/>
          <a:p>
            <a:pPr algn="l"/>
            <a:r>
              <a:rPr sz="1000" b="1" i="0">
                <a:solidFill>
                  <a:srgbClr val="FFFFFF"/>
                </a:solidFill>
              </a:rPr>
              <a:t>Step 5: Review</a:t>
            </a:r>
          </a:p>
        </p:txBody>
      </p:sp>
      <p:sp>
        <p:nvSpPr>
          <p:cNvPr id="41" name="TextBox 40"/>
          <p:cNvSpPr txBox="1"/>
          <p:nvPr/>
        </p:nvSpPr>
        <p:spPr>
          <a:xfrm>
            <a:off x="10588752" y="2295144"/>
            <a:ext cx="1426464" cy="329184"/>
          </a:xfrm>
          <a:prstGeom prst="rect">
            <a:avLst/>
          </a:prstGeom>
          <a:noFill/>
        </p:spPr>
        <p:txBody>
          <a:bodyPr wrap="square">
            <a:spAutoFit/>
          </a:bodyPr>
          <a:lstStyle/>
          <a:p>
            <a:pPr algn="l"/>
            <a:r>
              <a:rPr sz="1100" b="1" i="0">
                <a:solidFill>
                  <a:srgbClr val="1F2937"/>
                </a:solidFill>
              </a:rPr>
              <a:t/>
            </a:r>
          </a:p>
        </p:txBody>
      </p:sp>
      <p:sp>
        <p:nvSpPr>
          <p:cNvPr id="42" name="TextBox 41"/>
          <p:cNvSpPr txBox="1"/>
          <p:nvPr/>
        </p:nvSpPr>
        <p:spPr>
          <a:xfrm>
            <a:off x="10588752" y="2660903"/>
            <a:ext cx="1426464" cy="1143000"/>
          </a:xfrm>
          <a:prstGeom prst="rect">
            <a:avLst/>
          </a:prstGeom>
          <a:noFill/>
        </p:spPr>
        <p:txBody>
          <a:bodyPr wrap="square">
            <a:spAutoFit/>
          </a:bodyPr>
          <a:lstStyle/>
          <a:p>
            <a:pPr algn="l"/>
            <a:r>
              <a:rPr sz="900" b="0" i="0">
                <a:solidFill>
                  <a:srgbClr val="444444"/>
                </a:solidFill>
              </a:rPr>
              <a:t>Monthly Catch-Ups with your dedicated Account Manager to review engagement metrics. Cohort reporting offered quarterly and annually.*</a:t>
            </a:r>
          </a:p>
        </p:txBody>
      </p:sp>
      <p:sp>
        <p:nvSpPr>
          <p:cNvPr id="43" name="Rectangle 42"/>
          <p:cNvSpPr/>
          <p:nvPr/>
        </p:nvSpPr>
        <p:spPr>
          <a:xfrm>
            <a:off x="10479024" y="1874519"/>
            <a:ext cx="1645920" cy="34747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524744" y="1920240"/>
            <a:ext cx="1554480" cy="310896"/>
          </a:xfrm>
          <a:prstGeom prst="rect">
            <a:avLst/>
          </a:prstGeom>
          <a:noFill/>
        </p:spPr>
        <p:txBody>
          <a:bodyPr wrap="square">
            <a:spAutoFit/>
          </a:bodyPr>
          <a:lstStyle/>
          <a:p>
            <a:pPr algn="l"/>
            <a:r>
              <a:rPr sz="800" b="1" i="0">
                <a:solidFill>
                  <a:srgbClr val="FFFFFF"/>
                </a:solidFill>
              </a:rPr>
              <a:t>Step 5: Review</a:t>
            </a:r>
          </a:p>
        </p:txBody>
      </p:sp>
      <p:sp>
        <p:nvSpPr>
          <p:cNvPr id="45" name="TextBox 44"/>
          <p:cNvSpPr txBox="1"/>
          <p:nvPr/>
        </p:nvSpPr>
        <p:spPr>
          <a:xfrm>
            <a:off x="3840480" y="6035040"/>
            <a:ext cx="8138160" cy="292608"/>
          </a:xfrm>
          <a:prstGeom prst="rect">
            <a:avLst/>
          </a:prstGeom>
          <a:noFill/>
        </p:spPr>
        <p:txBody>
          <a:bodyPr wrap="square">
            <a:spAutoFit/>
          </a:bodyPr>
          <a:lstStyle/>
          <a:p>
            <a:pPr algn="l"/>
            <a:r>
              <a:rPr sz="750" b="0" i="1">
                <a:solidFill>
                  <a:srgbClr val="888888"/>
                </a:solidFill>
              </a:rPr>
              <a:t>*Cohort reporting offered quarterly ($1,800) and annually ($2,100). Free for cohorts of 201+.</a:t>
            </a:r>
          </a:p>
        </p:txBody>
      </p:sp>
      <p:sp>
        <p:nvSpPr>
          <p:cNvPr id="46" name="Rectangle 45"/>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48" name="TextBox 47"/>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49" name="TextBox 48"/>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8686800" cy="548640"/>
          </a:xfrm>
          <a:prstGeom prst="rect">
            <a:avLst/>
          </a:prstGeom>
          <a:noFill/>
        </p:spPr>
        <p:txBody>
          <a:bodyPr wrap="square">
            <a:spAutoFit/>
          </a:bodyPr>
          <a:lstStyle/>
          <a:p>
            <a:pPr algn="l"/>
            <a:r>
              <a:rPr sz="2400" b="1" i="0">
                <a:solidFill>
                  <a:srgbClr val="1F2937"/>
                </a:solidFill>
              </a:rPr>
              <a:t>Total Wellbeing Lifestyle Plan — CDMP</a:t>
            </a:r>
          </a:p>
        </p:txBody>
      </p:sp>
      <p:sp>
        <p:nvSpPr>
          <p:cNvPr id="4" name="TextBox 3"/>
          <p:cNvSpPr txBox="1"/>
          <p:nvPr/>
        </p:nvSpPr>
        <p:spPr>
          <a:xfrm>
            <a:off x="502920" y="896112"/>
            <a:ext cx="8686800" cy="384048"/>
          </a:xfrm>
          <a:prstGeom prst="rect">
            <a:avLst/>
          </a:prstGeom>
          <a:noFill/>
        </p:spPr>
        <p:txBody>
          <a:bodyPr wrap="square">
            <a:spAutoFit/>
          </a:bodyPr>
          <a:lstStyle/>
          <a:p>
            <a:pPr algn="l"/>
            <a:r>
              <a:rPr sz="1200" b="0" i="0">
                <a:solidFill>
                  <a:srgbClr val="00C4CC"/>
                </a:solidFill>
              </a:rPr>
              <a:t>PHI-compliant Chronic Disease Management Program — centred around your members and patients.</a:t>
            </a:r>
          </a:p>
        </p:txBody>
      </p:sp>
      <p:sp>
        <p:nvSpPr>
          <p:cNvPr id="5" name="Rectangle 4"/>
          <p:cNvSpPr/>
          <p:nvPr/>
        </p:nvSpPr>
        <p:spPr>
          <a:xfrm>
            <a:off x="411480" y="1481328"/>
            <a:ext cx="2560320" cy="457200"/>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572768"/>
            <a:ext cx="2377439" cy="283464"/>
          </a:xfrm>
          <a:prstGeom prst="rect">
            <a:avLst/>
          </a:prstGeom>
          <a:noFill/>
        </p:spPr>
        <p:txBody>
          <a:bodyPr wrap="square">
            <a:spAutoFit/>
          </a:bodyPr>
          <a:lstStyle/>
          <a:p>
            <a:pPr algn="ctr"/>
            <a:r>
              <a:rPr sz="1000" b="1" i="0">
                <a:solidFill>
                  <a:srgbClr val="FFFFFF"/>
                </a:solidFill>
              </a:rPr>
              <a:t>Program Tier</a:t>
            </a:r>
          </a:p>
        </p:txBody>
      </p:sp>
      <p:sp>
        <p:nvSpPr>
          <p:cNvPr id="7" name="Rectangle 6"/>
          <p:cNvSpPr/>
          <p:nvPr/>
        </p:nvSpPr>
        <p:spPr>
          <a:xfrm>
            <a:off x="3026664" y="1481328"/>
            <a:ext cx="1463040" cy="457200"/>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18104" y="1572768"/>
            <a:ext cx="1280160" cy="283464"/>
          </a:xfrm>
          <a:prstGeom prst="rect">
            <a:avLst/>
          </a:prstGeom>
          <a:noFill/>
        </p:spPr>
        <p:txBody>
          <a:bodyPr wrap="square">
            <a:spAutoFit/>
          </a:bodyPr>
          <a:lstStyle/>
          <a:p>
            <a:pPr algn="ctr"/>
            <a:r>
              <a:rPr sz="1000" b="1" i="0">
                <a:solidFill>
                  <a:srgbClr val="FFFFFF"/>
                </a:solidFill>
              </a:rPr>
              <a:t>Duration</a:t>
            </a:r>
          </a:p>
        </p:txBody>
      </p:sp>
      <p:sp>
        <p:nvSpPr>
          <p:cNvPr id="9" name="Rectangle 8"/>
          <p:cNvSpPr/>
          <p:nvPr/>
        </p:nvSpPr>
        <p:spPr>
          <a:xfrm>
            <a:off x="4544568" y="1481328"/>
            <a:ext cx="1828800" cy="457200"/>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7" y="1572768"/>
            <a:ext cx="1645920" cy="283464"/>
          </a:xfrm>
          <a:prstGeom prst="rect">
            <a:avLst/>
          </a:prstGeom>
          <a:noFill/>
        </p:spPr>
        <p:txBody>
          <a:bodyPr wrap="square">
            <a:spAutoFit/>
          </a:bodyPr>
          <a:lstStyle/>
          <a:p>
            <a:pPr algn="ctr"/>
            <a:r>
              <a:rPr sz="1000" b="1" i="0">
                <a:solidFill>
                  <a:srgbClr val="FFFFFF"/>
                </a:solidFill>
              </a:rPr>
              <a:t>Health Coaching</a:t>
            </a:r>
          </a:p>
        </p:txBody>
      </p:sp>
      <p:sp>
        <p:nvSpPr>
          <p:cNvPr id="11" name="Rectangle 10"/>
          <p:cNvSpPr/>
          <p:nvPr/>
        </p:nvSpPr>
        <p:spPr>
          <a:xfrm>
            <a:off x="6428231" y="1481328"/>
            <a:ext cx="1828800" cy="457200"/>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1" y="1572768"/>
            <a:ext cx="1645920" cy="283464"/>
          </a:xfrm>
          <a:prstGeom prst="rect">
            <a:avLst/>
          </a:prstGeom>
          <a:noFill/>
        </p:spPr>
        <p:txBody>
          <a:bodyPr wrap="square">
            <a:spAutoFit/>
          </a:bodyPr>
          <a:lstStyle/>
          <a:p>
            <a:pPr algn="ctr"/>
            <a:r>
              <a:rPr sz="1000" b="1" i="0">
                <a:solidFill>
                  <a:srgbClr val="FFFFFF"/>
                </a:solidFill>
              </a:rPr>
              <a:t>Fast Start Option</a:t>
            </a:r>
          </a:p>
        </p:txBody>
      </p:sp>
      <p:sp>
        <p:nvSpPr>
          <p:cNvPr id="13" name="Rectangle 12"/>
          <p:cNvSpPr/>
          <p:nvPr/>
        </p:nvSpPr>
        <p:spPr>
          <a:xfrm>
            <a:off x="8311896" y="1481328"/>
            <a:ext cx="2377440" cy="457200"/>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03336" y="1572768"/>
            <a:ext cx="2194560" cy="283464"/>
          </a:xfrm>
          <a:prstGeom prst="rect">
            <a:avLst/>
          </a:prstGeom>
          <a:noFill/>
        </p:spPr>
        <p:txBody>
          <a:bodyPr wrap="square">
            <a:spAutoFit/>
          </a:bodyPr>
          <a:lstStyle/>
          <a:p>
            <a:pPr algn="ctr"/>
            <a:r>
              <a:rPr sz="1000" b="1" i="0">
                <a:solidFill>
                  <a:srgbClr val="FFFFFF"/>
                </a:solidFill>
              </a:rPr>
              <a:t>Cost / Member*</a:t>
            </a:r>
          </a:p>
        </p:txBody>
      </p:sp>
      <p:sp>
        <p:nvSpPr>
          <p:cNvPr id="15" name="Rectangle 14"/>
          <p:cNvSpPr/>
          <p:nvPr/>
        </p:nvSpPr>
        <p:spPr>
          <a:xfrm>
            <a:off x="411480" y="1993392"/>
            <a:ext cx="2560320" cy="45720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084832"/>
            <a:ext cx="2377439" cy="310896"/>
          </a:xfrm>
          <a:prstGeom prst="rect">
            <a:avLst/>
          </a:prstGeom>
          <a:noFill/>
        </p:spPr>
        <p:txBody>
          <a:bodyPr wrap="square">
            <a:spAutoFit/>
          </a:bodyPr>
          <a:lstStyle/>
          <a:p>
            <a:pPr algn="l"/>
            <a:r>
              <a:rPr sz="1000" b="1" i="0">
                <a:solidFill>
                  <a:srgbClr val="00C4CC"/>
                </a:solidFill>
              </a:rPr>
              <a:t>Entry — Prevention</a:t>
            </a:r>
          </a:p>
        </p:txBody>
      </p:sp>
      <p:sp>
        <p:nvSpPr>
          <p:cNvPr id="17" name="Rectangle 16"/>
          <p:cNvSpPr/>
          <p:nvPr/>
        </p:nvSpPr>
        <p:spPr>
          <a:xfrm>
            <a:off x="3026664" y="1993392"/>
            <a:ext cx="1463040" cy="45720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18104" y="2084832"/>
            <a:ext cx="1280160" cy="310896"/>
          </a:xfrm>
          <a:prstGeom prst="rect">
            <a:avLst/>
          </a:prstGeom>
          <a:noFill/>
        </p:spPr>
        <p:txBody>
          <a:bodyPr wrap="square">
            <a:spAutoFit/>
          </a:bodyPr>
          <a:lstStyle/>
          <a:p>
            <a:pPr algn="ctr"/>
            <a:r>
              <a:rPr sz="1000" b="0" i="0">
                <a:solidFill>
                  <a:srgbClr val="444444"/>
                </a:solidFill>
              </a:rPr>
              <a:t>12 weeks</a:t>
            </a:r>
          </a:p>
        </p:txBody>
      </p:sp>
      <p:sp>
        <p:nvSpPr>
          <p:cNvPr id="19" name="Rectangle 18"/>
          <p:cNvSpPr/>
          <p:nvPr/>
        </p:nvSpPr>
        <p:spPr>
          <a:xfrm>
            <a:off x="4544568" y="1993392"/>
            <a:ext cx="1828800" cy="45720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36007" y="2084832"/>
            <a:ext cx="1645920" cy="310896"/>
          </a:xfrm>
          <a:prstGeom prst="rect">
            <a:avLst/>
          </a:prstGeom>
          <a:noFill/>
        </p:spPr>
        <p:txBody>
          <a:bodyPr wrap="square">
            <a:spAutoFit/>
          </a:bodyPr>
          <a:lstStyle/>
          <a:p>
            <a:pPr algn="ctr"/>
            <a:r>
              <a:rPr sz="1000" b="0" i="0">
                <a:solidFill>
                  <a:srgbClr val="444444"/>
                </a:solidFill>
              </a:rPr>
              <a:t>3 HCS</a:t>
            </a:r>
          </a:p>
        </p:txBody>
      </p:sp>
      <p:sp>
        <p:nvSpPr>
          <p:cNvPr id="21" name="Rectangle 20"/>
          <p:cNvSpPr/>
          <p:nvPr/>
        </p:nvSpPr>
        <p:spPr>
          <a:xfrm>
            <a:off x="6428231" y="1993392"/>
            <a:ext cx="1828800" cy="45720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9671" y="2084832"/>
            <a:ext cx="1645920" cy="310896"/>
          </a:xfrm>
          <a:prstGeom prst="rect">
            <a:avLst/>
          </a:prstGeom>
          <a:noFill/>
        </p:spPr>
        <p:txBody>
          <a:bodyPr wrap="square">
            <a:spAutoFit/>
          </a:bodyPr>
          <a:lstStyle/>
          <a:p>
            <a:pPr algn="ctr"/>
            <a:r>
              <a:rPr sz="1000" b="0" i="0">
                <a:solidFill>
                  <a:srgbClr val="444444"/>
                </a:solidFill>
              </a:rPr>
              <a:t>Optional</a:t>
            </a:r>
          </a:p>
        </p:txBody>
      </p:sp>
      <p:sp>
        <p:nvSpPr>
          <p:cNvPr id="23" name="Rectangle 22"/>
          <p:cNvSpPr/>
          <p:nvPr/>
        </p:nvSpPr>
        <p:spPr>
          <a:xfrm>
            <a:off x="8311896" y="1993392"/>
            <a:ext cx="2377440" cy="45720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03336" y="2084832"/>
            <a:ext cx="2194560" cy="310896"/>
          </a:xfrm>
          <a:prstGeom prst="rect">
            <a:avLst/>
          </a:prstGeom>
          <a:noFill/>
        </p:spPr>
        <p:txBody>
          <a:bodyPr wrap="square">
            <a:spAutoFit/>
          </a:bodyPr>
          <a:lstStyle/>
          <a:p>
            <a:pPr algn="ctr"/>
            <a:r>
              <a:rPr sz="1000" b="0" i="0">
                <a:solidFill>
                  <a:srgbClr val="444444"/>
                </a:solidFill>
              </a:rPr>
              <a:t>From $595</a:t>
            </a:r>
          </a:p>
        </p:txBody>
      </p:sp>
      <p:sp>
        <p:nvSpPr>
          <p:cNvPr id="25" name="Rectangle 24"/>
          <p:cNvSpPr/>
          <p:nvPr/>
        </p:nvSpPr>
        <p:spPr>
          <a:xfrm>
            <a:off x="411480" y="2505456"/>
            <a:ext cx="25603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2596896"/>
            <a:ext cx="2377439" cy="310896"/>
          </a:xfrm>
          <a:prstGeom prst="rect">
            <a:avLst/>
          </a:prstGeom>
          <a:noFill/>
        </p:spPr>
        <p:txBody>
          <a:bodyPr wrap="square">
            <a:spAutoFit/>
          </a:bodyPr>
          <a:lstStyle/>
          <a:p>
            <a:pPr algn="l"/>
            <a:r>
              <a:rPr sz="1000" b="1" i="0">
                <a:solidFill>
                  <a:srgbClr val="00C4CC"/>
                </a:solidFill>
              </a:rPr>
              <a:t>Standard — CDMP</a:t>
            </a:r>
          </a:p>
        </p:txBody>
      </p:sp>
      <p:sp>
        <p:nvSpPr>
          <p:cNvPr id="27" name="Rectangle 26"/>
          <p:cNvSpPr/>
          <p:nvPr/>
        </p:nvSpPr>
        <p:spPr>
          <a:xfrm>
            <a:off x="3026664" y="2505456"/>
            <a:ext cx="146304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18104" y="2596896"/>
            <a:ext cx="1280160" cy="310896"/>
          </a:xfrm>
          <a:prstGeom prst="rect">
            <a:avLst/>
          </a:prstGeom>
          <a:noFill/>
        </p:spPr>
        <p:txBody>
          <a:bodyPr wrap="square">
            <a:spAutoFit/>
          </a:bodyPr>
          <a:lstStyle/>
          <a:p>
            <a:pPr algn="ctr"/>
            <a:r>
              <a:rPr sz="1000" b="0" i="0">
                <a:solidFill>
                  <a:srgbClr val="444444"/>
                </a:solidFill>
              </a:rPr>
              <a:t>16 weeks</a:t>
            </a:r>
          </a:p>
        </p:txBody>
      </p:sp>
      <p:sp>
        <p:nvSpPr>
          <p:cNvPr id="29" name="Rectangle 28"/>
          <p:cNvSpPr/>
          <p:nvPr/>
        </p:nvSpPr>
        <p:spPr>
          <a:xfrm>
            <a:off x="4544568" y="2505456"/>
            <a:ext cx="1828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36007" y="2596896"/>
            <a:ext cx="1645920" cy="310896"/>
          </a:xfrm>
          <a:prstGeom prst="rect">
            <a:avLst/>
          </a:prstGeom>
          <a:noFill/>
        </p:spPr>
        <p:txBody>
          <a:bodyPr wrap="square">
            <a:spAutoFit/>
          </a:bodyPr>
          <a:lstStyle/>
          <a:p>
            <a:pPr algn="ctr"/>
            <a:r>
              <a:rPr sz="1000" b="0" i="0">
                <a:solidFill>
                  <a:srgbClr val="444444"/>
                </a:solidFill>
              </a:rPr>
              <a:t>7–10 HCS</a:t>
            </a:r>
          </a:p>
        </p:txBody>
      </p:sp>
      <p:sp>
        <p:nvSpPr>
          <p:cNvPr id="31" name="Rectangle 30"/>
          <p:cNvSpPr/>
          <p:nvPr/>
        </p:nvSpPr>
        <p:spPr>
          <a:xfrm>
            <a:off x="6428231" y="2505456"/>
            <a:ext cx="1828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19671" y="2596896"/>
            <a:ext cx="1645920" cy="310896"/>
          </a:xfrm>
          <a:prstGeom prst="rect">
            <a:avLst/>
          </a:prstGeom>
          <a:noFill/>
        </p:spPr>
        <p:txBody>
          <a:bodyPr wrap="square">
            <a:spAutoFit/>
          </a:bodyPr>
          <a:lstStyle/>
          <a:p>
            <a:pPr algn="ctr"/>
            <a:r>
              <a:rPr sz="1000" b="0" i="0">
                <a:solidFill>
                  <a:srgbClr val="444444"/>
                </a:solidFill>
              </a:rPr>
              <a:t>Optional</a:t>
            </a:r>
          </a:p>
        </p:txBody>
      </p:sp>
      <p:sp>
        <p:nvSpPr>
          <p:cNvPr id="33" name="Rectangle 32"/>
          <p:cNvSpPr/>
          <p:nvPr/>
        </p:nvSpPr>
        <p:spPr>
          <a:xfrm>
            <a:off x="8311896" y="2505456"/>
            <a:ext cx="237744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03336" y="2596896"/>
            <a:ext cx="2194560" cy="310896"/>
          </a:xfrm>
          <a:prstGeom prst="rect">
            <a:avLst/>
          </a:prstGeom>
          <a:noFill/>
        </p:spPr>
        <p:txBody>
          <a:bodyPr wrap="square">
            <a:spAutoFit/>
          </a:bodyPr>
          <a:lstStyle/>
          <a:p>
            <a:pPr algn="ctr"/>
            <a:r>
              <a:rPr sz="1000" b="0" i="0">
                <a:solidFill>
                  <a:srgbClr val="444444"/>
                </a:solidFill>
              </a:rPr>
              <a:t>From $866</a:t>
            </a:r>
          </a:p>
        </p:txBody>
      </p:sp>
      <p:sp>
        <p:nvSpPr>
          <p:cNvPr id="35" name="Rectangle 34"/>
          <p:cNvSpPr/>
          <p:nvPr/>
        </p:nvSpPr>
        <p:spPr>
          <a:xfrm>
            <a:off x="411480" y="3017520"/>
            <a:ext cx="2560320" cy="45720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3108960"/>
            <a:ext cx="2377439" cy="310896"/>
          </a:xfrm>
          <a:prstGeom prst="rect">
            <a:avLst/>
          </a:prstGeom>
          <a:noFill/>
        </p:spPr>
        <p:txBody>
          <a:bodyPr wrap="square">
            <a:spAutoFit/>
          </a:bodyPr>
          <a:lstStyle/>
          <a:p>
            <a:pPr algn="l"/>
            <a:r>
              <a:rPr sz="1000" b="1" i="0">
                <a:solidFill>
                  <a:srgbClr val="00C4CC"/>
                </a:solidFill>
              </a:rPr>
              <a:t>Comprehensive — CDMP</a:t>
            </a:r>
          </a:p>
        </p:txBody>
      </p:sp>
      <p:sp>
        <p:nvSpPr>
          <p:cNvPr id="37" name="Rectangle 36"/>
          <p:cNvSpPr/>
          <p:nvPr/>
        </p:nvSpPr>
        <p:spPr>
          <a:xfrm>
            <a:off x="3026664" y="3017520"/>
            <a:ext cx="1463040" cy="45720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118104" y="3108960"/>
            <a:ext cx="1280160" cy="310896"/>
          </a:xfrm>
          <a:prstGeom prst="rect">
            <a:avLst/>
          </a:prstGeom>
          <a:noFill/>
        </p:spPr>
        <p:txBody>
          <a:bodyPr wrap="square">
            <a:spAutoFit/>
          </a:bodyPr>
          <a:lstStyle/>
          <a:p>
            <a:pPr algn="ctr"/>
            <a:r>
              <a:rPr sz="1000" b="0" i="0">
                <a:solidFill>
                  <a:srgbClr val="444444"/>
                </a:solidFill>
              </a:rPr>
              <a:t>24 weeks</a:t>
            </a:r>
          </a:p>
        </p:txBody>
      </p:sp>
      <p:sp>
        <p:nvSpPr>
          <p:cNvPr id="39" name="Rectangle 38"/>
          <p:cNvSpPr/>
          <p:nvPr/>
        </p:nvSpPr>
        <p:spPr>
          <a:xfrm>
            <a:off x="4544568" y="3017520"/>
            <a:ext cx="1828800" cy="45720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36007" y="3108960"/>
            <a:ext cx="1645920" cy="310896"/>
          </a:xfrm>
          <a:prstGeom prst="rect">
            <a:avLst/>
          </a:prstGeom>
          <a:noFill/>
        </p:spPr>
        <p:txBody>
          <a:bodyPr wrap="square">
            <a:spAutoFit/>
          </a:bodyPr>
          <a:lstStyle/>
          <a:p>
            <a:pPr algn="ctr"/>
            <a:r>
              <a:rPr sz="1000" b="0" i="0">
                <a:solidFill>
                  <a:srgbClr val="444444"/>
                </a:solidFill>
              </a:rPr>
              <a:t>10–15 HCS</a:t>
            </a:r>
          </a:p>
        </p:txBody>
      </p:sp>
      <p:sp>
        <p:nvSpPr>
          <p:cNvPr id="41" name="Rectangle 40"/>
          <p:cNvSpPr/>
          <p:nvPr/>
        </p:nvSpPr>
        <p:spPr>
          <a:xfrm>
            <a:off x="6428231" y="3017520"/>
            <a:ext cx="1828800" cy="45720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19671" y="3108960"/>
            <a:ext cx="1645920" cy="310896"/>
          </a:xfrm>
          <a:prstGeom prst="rect">
            <a:avLst/>
          </a:prstGeom>
          <a:noFill/>
        </p:spPr>
        <p:txBody>
          <a:bodyPr wrap="square">
            <a:spAutoFit/>
          </a:bodyPr>
          <a:lstStyle/>
          <a:p>
            <a:pPr algn="ctr"/>
            <a:r>
              <a:rPr sz="1000" b="0" i="0">
                <a:solidFill>
                  <a:srgbClr val="444444"/>
                </a:solidFill>
              </a:rPr>
              <a:t>Optional</a:t>
            </a:r>
          </a:p>
        </p:txBody>
      </p:sp>
      <p:sp>
        <p:nvSpPr>
          <p:cNvPr id="43" name="Rectangle 42"/>
          <p:cNvSpPr/>
          <p:nvPr/>
        </p:nvSpPr>
        <p:spPr>
          <a:xfrm>
            <a:off x="8311896" y="3017520"/>
            <a:ext cx="2377440" cy="45720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3336" y="3108960"/>
            <a:ext cx="2194560" cy="310896"/>
          </a:xfrm>
          <a:prstGeom prst="rect">
            <a:avLst/>
          </a:prstGeom>
          <a:noFill/>
        </p:spPr>
        <p:txBody>
          <a:bodyPr wrap="square">
            <a:spAutoFit/>
          </a:bodyPr>
          <a:lstStyle/>
          <a:p>
            <a:pPr algn="ctr"/>
            <a:r>
              <a:rPr sz="1000" b="0" i="0">
                <a:solidFill>
                  <a:srgbClr val="444444"/>
                </a:solidFill>
              </a:rPr>
              <a:t>From $1,125</a:t>
            </a:r>
          </a:p>
        </p:txBody>
      </p:sp>
      <p:sp>
        <p:nvSpPr>
          <p:cNvPr id="45" name="TextBox 44"/>
          <p:cNvSpPr txBox="1"/>
          <p:nvPr/>
        </p:nvSpPr>
        <p:spPr>
          <a:xfrm>
            <a:off x="502920" y="3255264"/>
            <a:ext cx="8229600" cy="347472"/>
          </a:xfrm>
          <a:prstGeom prst="rect">
            <a:avLst/>
          </a:prstGeom>
          <a:noFill/>
        </p:spPr>
        <p:txBody>
          <a:bodyPr wrap="square">
            <a:spAutoFit/>
          </a:bodyPr>
          <a:lstStyle/>
          <a:p>
            <a:pPr algn="l"/>
            <a:r>
              <a:rPr sz="1100" b="1" i="0">
                <a:solidFill>
                  <a:srgbClr val="1F2937"/>
                </a:solidFill>
              </a:rPr>
              <a:t>Eligibility criteria:</a:t>
            </a:r>
          </a:p>
        </p:txBody>
      </p:sp>
      <p:sp>
        <p:nvSpPr>
          <p:cNvPr id="46" name="TextBox 45"/>
          <p:cNvSpPr txBox="1"/>
          <p:nvPr/>
        </p:nvSpPr>
        <p:spPr>
          <a:xfrm>
            <a:off x="502920" y="3657600"/>
            <a:ext cx="8046720" cy="475488"/>
          </a:xfrm>
          <a:prstGeom prst="rect">
            <a:avLst/>
          </a:prstGeom>
          <a:noFill/>
        </p:spPr>
        <p:txBody>
          <a:bodyPr wrap="square">
            <a:spAutoFit/>
          </a:bodyPr>
          <a:lstStyle/>
          <a:p>
            <a:pPr algn="l"/>
            <a:r>
              <a:rPr sz="1000" b="0" i="0">
                <a:solidFill>
                  <a:srgbClr val="444444"/>
                </a:solidFill>
              </a:rPr>
              <a:t>•  BMI ≥ 28 kg/m², AND</a:t>
            </a:r>
          </a:p>
        </p:txBody>
      </p:sp>
      <p:sp>
        <p:nvSpPr>
          <p:cNvPr id="47" name="TextBox 46"/>
          <p:cNvSpPr txBox="1"/>
          <p:nvPr/>
        </p:nvSpPr>
        <p:spPr>
          <a:xfrm>
            <a:off x="502920" y="4169664"/>
            <a:ext cx="8046720" cy="475488"/>
          </a:xfrm>
          <a:prstGeom prst="rect">
            <a:avLst/>
          </a:prstGeom>
          <a:noFill/>
        </p:spPr>
        <p:txBody>
          <a:bodyPr wrap="square">
            <a:spAutoFit/>
          </a:bodyPr>
          <a:lstStyle/>
          <a:p>
            <a:pPr algn="l"/>
            <a:r>
              <a:rPr sz="1000" b="0" i="0">
                <a:solidFill>
                  <a:srgbClr val="444444"/>
                </a:solidFill>
              </a:rPr>
              <a:t>•  One or more chronic conditions: Cardiovascular disease, Osteoarthritis, Type 2 Diabetes, Obstructive Sleep Apnoea, Respiratory Conditions (COPD/Asthma). OR</a:t>
            </a:r>
          </a:p>
        </p:txBody>
      </p:sp>
      <p:sp>
        <p:nvSpPr>
          <p:cNvPr id="48" name="TextBox 47"/>
          <p:cNvSpPr txBox="1"/>
          <p:nvPr/>
        </p:nvSpPr>
        <p:spPr>
          <a:xfrm>
            <a:off x="502920" y="4681728"/>
            <a:ext cx="8046720" cy="475488"/>
          </a:xfrm>
          <a:prstGeom prst="rect">
            <a:avLst/>
          </a:prstGeom>
          <a:noFill/>
        </p:spPr>
        <p:txBody>
          <a:bodyPr wrap="square">
            <a:spAutoFit/>
          </a:bodyPr>
          <a:lstStyle/>
          <a:p>
            <a:pPr algn="l"/>
            <a:r>
              <a:rPr sz="1000" b="0" i="0">
                <a:solidFill>
                  <a:srgbClr val="444444"/>
                </a:solidFill>
              </a:rPr>
              <a:t>•  Is at high risk: lifestyle risk factors + biomedical risk factors + family history of chronic disease.</a:t>
            </a:r>
          </a:p>
        </p:txBody>
      </p:sp>
      <p:sp>
        <p:nvSpPr>
          <p:cNvPr id="49" name="TextBox 48"/>
          <p:cNvSpPr txBox="1"/>
          <p:nvPr/>
        </p:nvSpPr>
        <p:spPr>
          <a:xfrm>
            <a:off x="502920" y="6035040"/>
            <a:ext cx="11247120" cy="320040"/>
          </a:xfrm>
          <a:prstGeom prst="rect">
            <a:avLst/>
          </a:prstGeom>
          <a:noFill/>
        </p:spPr>
        <p:txBody>
          <a:bodyPr wrap="square">
            <a:spAutoFit/>
          </a:bodyPr>
          <a:lstStyle/>
          <a:p>
            <a:pPr algn="l"/>
            <a:r>
              <a:rPr sz="750" b="0" i="1">
                <a:solidFill>
                  <a:srgbClr val="888888"/>
                </a:solidFill>
              </a:rPr>
              <a:t>*Pricing shown excludes GST. Volume discounts apply (30–45% off fixed costs for 100–300+ registrations). See pricing schedule for full detail.</a:t>
            </a:r>
          </a:p>
        </p:txBody>
      </p:sp>
      <p:sp>
        <p:nvSpPr>
          <p:cNvPr id="50" name="Rectangle 49"/>
          <p:cNvSpPr/>
          <p:nvPr/>
        </p:nvSpPr>
        <p:spPr>
          <a:xfrm>
            <a:off x="9326880" y="1417320"/>
            <a:ext cx="2560320" cy="466344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058400" y="3566159"/>
            <a:ext cx="1097280" cy="365760"/>
          </a:xfrm>
          <a:prstGeom prst="rect">
            <a:avLst/>
          </a:prstGeom>
          <a:noFill/>
        </p:spPr>
        <p:txBody>
          <a:bodyPr wrap="square">
            <a:spAutoFit/>
          </a:bodyPr>
          <a:lstStyle/>
          <a:p>
            <a:pPr algn="ctr"/>
            <a:r>
              <a:rPr sz="900" b="0" i="0">
                <a:solidFill>
                  <a:srgbClr val="888888"/>
                </a:solidFill>
              </a:rPr>
              <a:t>[ Member photo ]</a:t>
            </a:r>
          </a:p>
        </p:txBody>
      </p:sp>
      <p:sp>
        <p:nvSpPr>
          <p:cNvPr id="52" name="Rectangle 51"/>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54" name="TextBox 53"/>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55" name="TextBox 54"/>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0" y="-1371600"/>
            <a:ext cx="6400800" cy="9144000"/>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217920" y="-457200"/>
            <a:ext cx="6858000" cy="8229600"/>
          </a:xfrm>
          <a:prstGeom prst="ellipse">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80960" y="1097280"/>
            <a:ext cx="3840480" cy="43891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52560" y="3108959"/>
            <a:ext cx="1097280" cy="365760"/>
          </a:xfrm>
          <a:prstGeom prst="rect">
            <a:avLst/>
          </a:prstGeom>
          <a:noFill/>
        </p:spPr>
        <p:txBody>
          <a:bodyPr wrap="square">
            <a:spAutoFit/>
          </a:bodyPr>
          <a:lstStyle/>
          <a:p>
            <a:pPr algn="ctr"/>
            <a:r>
              <a:rPr sz="900" b="0" i="0">
                <a:solidFill>
                  <a:srgbClr val="888888"/>
                </a:solidFill>
              </a:rPr>
              <a:t>[ Image ]</a:t>
            </a:r>
          </a:p>
        </p:txBody>
      </p:sp>
      <p:sp>
        <p:nvSpPr>
          <p:cNvPr id="7" name="Oval 6"/>
          <p:cNvSpPr/>
          <p:nvPr/>
        </p:nvSpPr>
        <p:spPr>
          <a:xfrm>
            <a:off x="11155680" y="182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56848" y="182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58015" y="182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759184" y="182880"/>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155680" y="384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356848" y="384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558015" y="384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759184" y="3840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155680" y="585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356848" y="585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558015" y="585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59184" y="585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155680" y="786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356848" y="786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558015" y="786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759184" y="786384"/>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1371600"/>
            <a:ext cx="5486400" cy="411480"/>
          </a:xfrm>
          <a:prstGeom prst="rect">
            <a:avLst/>
          </a:prstGeom>
          <a:noFill/>
        </p:spPr>
        <p:txBody>
          <a:bodyPr wrap="square">
            <a:spAutoFit/>
          </a:bodyPr>
          <a:lstStyle/>
          <a:p>
            <a:pPr algn="l"/>
            <a:r>
              <a:rPr sz="1100" b="1" i="0">
                <a:solidFill>
                  <a:srgbClr val="00C4CC"/>
                </a:solidFill>
              </a:rPr>
              <a:t>Digital Wellness®</a:t>
            </a:r>
          </a:p>
        </p:txBody>
      </p:sp>
      <p:sp>
        <p:nvSpPr>
          <p:cNvPr id="24" name="TextBox 23"/>
          <p:cNvSpPr txBox="1"/>
          <p:nvPr/>
        </p:nvSpPr>
        <p:spPr>
          <a:xfrm>
            <a:off x="548640" y="1920240"/>
            <a:ext cx="5943600" cy="1645920"/>
          </a:xfrm>
          <a:prstGeom prst="rect">
            <a:avLst/>
          </a:prstGeom>
          <a:noFill/>
        </p:spPr>
        <p:txBody>
          <a:bodyPr wrap="square">
            <a:spAutoFit/>
          </a:bodyPr>
          <a:lstStyle/>
          <a:p>
            <a:pPr algn="l"/>
            <a:r>
              <a:rPr sz="3600" b="1" i="0">
                <a:solidFill>
                  <a:srgbClr val="1F2937"/>
                </a:solidFill>
              </a:rPr>
              <a:t>More
Information</a:t>
            </a:r>
          </a:p>
        </p:txBody>
      </p:sp>
      <p:sp>
        <p:nvSpPr>
          <p:cNvPr id="25" name="TextBox 24"/>
          <p:cNvSpPr txBox="1"/>
          <p:nvPr/>
        </p:nvSpPr>
        <p:spPr>
          <a:xfrm>
            <a:off x="548640" y="3703320"/>
            <a:ext cx="5943600" cy="502920"/>
          </a:xfrm>
          <a:prstGeom prst="rect">
            <a:avLst/>
          </a:prstGeom>
          <a:noFill/>
        </p:spPr>
        <p:txBody>
          <a:bodyPr wrap="square">
            <a:spAutoFit/>
          </a:bodyPr>
          <a:lstStyle/>
          <a:p>
            <a:pPr algn="l"/>
            <a:r>
              <a:rPr sz="1500" b="0" i="0">
                <a:solidFill>
                  <a:srgbClr val="00C4CC"/>
                </a:solidFill>
              </a:rPr>
              <a:t>✓ Health Coaching Sessions   ✓ Fast Start   ✓ Reporting</a:t>
            </a:r>
          </a:p>
        </p:txBody>
      </p:sp>
      <p:sp>
        <p:nvSpPr>
          <p:cNvPr id="26" name="Rectangle 25"/>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28" name="TextBox 27"/>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29" name="TextBox 28"/>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8686800" cy="548640"/>
          </a:xfrm>
          <a:prstGeom prst="rect">
            <a:avLst/>
          </a:prstGeom>
          <a:noFill/>
        </p:spPr>
        <p:txBody>
          <a:bodyPr wrap="square">
            <a:spAutoFit/>
          </a:bodyPr>
          <a:lstStyle/>
          <a:p>
            <a:pPr algn="l"/>
            <a:r>
              <a:rPr sz="2400" b="1" i="0">
                <a:solidFill>
                  <a:srgbClr val="1F2937"/>
                </a:solidFill>
              </a:rPr>
              <a:t>Health Coaching Sessions</a:t>
            </a:r>
          </a:p>
        </p:txBody>
      </p:sp>
      <p:sp>
        <p:nvSpPr>
          <p:cNvPr id="4" name="TextBox 3"/>
          <p:cNvSpPr txBox="1"/>
          <p:nvPr/>
        </p:nvSpPr>
        <p:spPr>
          <a:xfrm>
            <a:off x="502920" y="896112"/>
            <a:ext cx="8686800" cy="365760"/>
          </a:xfrm>
          <a:prstGeom prst="rect">
            <a:avLst/>
          </a:prstGeom>
          <a:noFill/>
        </p:spPr>
        <p:txBody>
          <a:bodyPr wrap="square">
            <a:spAutoFit/>
          </a:bodyPr>
          <a:lstStyle/>
          <a:p>
            <a:pPr algn="l"/>
            <a:r>
              <a:rPr sz="1200" b="0" i="0">
                <a:solidFill>
                  <a:srgbClr val="00C4CC"/>
                </a:solidFill>
              </a:rPr>
              <a:t>Coaching support that drives member wellbeing and sustainable results.</a:t>
            </a:r>
          </a:p>
        </p:txBody>
      </p:sp>
      <p:sp>
        <p:nvSpPr>
          <p:cNvPr id="5" name="TextBox 4"/>
          <p:cNvSpPr txBox="1"/>
          <p:nvPr/>
        </p:nvSpPr>
        <p:spPr>
          <a:xfrm>
            <a:off x="502920" y="1417320"/>
            <a:ext cx="7132320" cy="868680"/>
          </a:xfrm>
          <a:prstGeom prst="rect">
            <a:avLst/>
          </a:prstGeom>
          <a:noFill/>
        </p:spPr>
        <p:txBody>
          <a:bodyPr wrap="square">
            <a:spAutoFit/>
          </a:bodyPr>
          <a:lstStyle/>
          <a:p>
            <a:pPr algn="l"/>
            <a:r>
              <a:rPr sz="1100" b="0" i="0">
                <a:solidFill>
                  <a:srgbClr val="444444"/>
                </a:solidFill>
              </a:rPr>
              <a:t>Our Total Wellbeing Health Coaches are Accredited Practising Dietitians (APDs) and members of Dietitians Australia. They provide evidence-based support across nutrition, behaviour change and lifestyle planning — helping members set realistic goals, stay accountable and build lasting healthy habits.</a:t>
            </a:r>
          </a:p>
        </p:txBody>
      </p:sp>
      <p:sp>
        <p:nvSpPr>
          <p:cNvPr id="6" name="TextBox 5"/>
          <p:cNvSpPr txBox="1"/>
          <p:nvPr/>
        </p:nvSpPr>
        <p:spPr>
          <a:xfrm>
            <a:off x="502920" y="2423160"/>
            <a:ext cx="7315200" cy="347472"/>
          </a:xfrm>
          <a:prstGeom prst="rect">
            <a:avLst/>
          </a:prstGeom>
          <a:noFill/>
        </p:spPr>
        <p:txBody>
          <a:bodyPr wrap="square">
            <a:spAutoFit/>
          </a:bodyPr>
          <a:lstStyle/>
          <a:p>
            <a:pPr algn="l"/>
            <a:r>
              <a:rPr sz="1100" b="1" i="0">
                <a:solidFill>
                  <a:srgbClr val="1F2937"/>
                </a:solidFill>
              </a:rPr>
              <a:t>What members can expect from a coaching session:</a:t>
            </a:r>
          </a:p>
        </p:txBody>
      </p:sp>
      <p:sp>
        <p:nvSpPr>
          <p:cNvPr id="7" name="TextBox 6"/>
          <p:cNvSpPr txBox="1"/>
          <p:nvPr/>
        </p:nvSpPr>
        <p:spPr>
          <a:xfrm>
            <a:off x="502920" y="2834640"/>
            <a:ext cx="5394960" cy="502920"/>
          </a:xfrm>
          <a:prstGeom prst="rect">
            <a:avLst/>
          </a:prstGeom>
          <a:noFill/>
        </p:spPr>
        <p:txBody>
          <a:bodyPr wrap="square">
            <a:spAutoFit/>
          </a:bodyPr>
          <a:lstStyle/>
          <a:p>
            <a:pPr algn="l"/>
            <a:r>
              <a:rPr sz="1000" b="0" i="0">
                <a:solidFill>
                  <a:srgbClr val="444444"/>
                </a:solidFill>
              </a:rPr>
              <a:t>✓  Personalised weight-loss and nutrition advice</a:t>
            </a:r>
          </a:p>
        </p:txBody>
      </p:sp>
      <p:sp>
        <p:nvSpPr>
          <p:cNvPr id="8" name="TextBox 7"/>
          <p:cNvSpPr txBox="1"/>
          <p:nvPr/>
        </p:nvSpPr>
        <p:spPr>
          <a:xfrm>
            <a:off x="6263640" y="2834640"/>
            <a:ext cx="5394960" cy="502920"/>
          </a:xfrm>
          <a:prstGeom prst="rect">
            <a:avLst/>
          </a:prstGeom>
          <a:noFill/>
        </p:spPr>
        <p:txBody>
          <a:bodyPr wrap="square">
            <a:spAutoFit/>
          </a:bodyPr>
          <a:lstStyle/>
          <a:p>
            <a:pPr algn="l"/>
            <a:r>
              <a:rPr sz="1000" b="0" i="0">
                <a:solidFill>
                  <a:srgbClr val="444444"/>
                </a:solidFill>
              </a:rPr>
              <a:t>✓  Progress review and recommendations to improve outcomes</a:t>
            </a:r>
          </a:p>
        </p:txBody>
      </p:sp>
      <p:sp>
        <p:nvSpPr>
          <p:cNvPr id="9" name="TextBox 8"/>
          <p:cNvSpPr txBox="1"/>
          <p:nvPr/>
        </p:nvSpPr>
        <p:spPr>
          <a:xfrm>
            <a:off x="502920" y="3401568"/>
            <a:ext cx="5394960" cy="502920"/>
          </a:xfrm>
          <a:prstGeom prst="rect">
            <a:avLst/>
          </a:prstGeom>
          <a:noFill/>
        </p:spPr>
        <p:txBody>
          <a:bodyPr wrap="square">
            <a:spAutoFit/>
          </a:bodyPr>
          <a:lstStyle/>
          <a:p>
            <a:pPr algn="l"/>
            <a:r>
              <a:rPr sz="1000" b="0" i="0">
                <a:solidFill>
                  <a:srgbClr val="444444"/>
                </a:solidFill>
              </a:rPr>
              <a:t>✓  Guidance on getting the most from the CSIRO Total Wellbeing Diet platform</a:t>
            </a:r>
          </a:p>
        </p:txBody>
      </p:sp>
      <p:sp>
        <p:nvSpPr>
          <p:cNvPr id="10" name="TextBox 9"/>
          <p:cNvSpPr txBox="1"/>
          <p:nvPr/>
        </p:nvSpPr>
        <p:spPr>
          <a:xfrm>
            <a:off x="6263640" y="3401568"/>
            <a:ext cx="5394960" cy="502920"/>
          </a:xfrm>
          <a:prstGeom prst="rect">
            <a:avLst/>
          </a:prstGeom>
          <a:noFill/>
        </p:spPr>
        <p:txBody>
          <a:bodyPr wrap="square">
            <a:spAutoFit/>
          </a:bodyPr>
          <a:lstStyle/>
          <a:p>
            <a:pPr algn="l"/>
            <a:r>
              <a:rPr sz="1000" b="0" i="0">
                <a:solidFill>
                  <a:srgbClr val="444444"/>
                </a:solidFill>
              </a:rPr>
              <a:t>✓  Answers to program and meal-plan questions</a:t>
            </a:r>
          </a:p>
        </p:txBody>
      </p:sp>
      <p:sp>
        <p:nvSpPr>
          <p:cNvPr id="11" name="TextBox 10"/>
          <p:cNvSpPr txBox="1"/>
          <p:nvPr/>
        </p:nvSpPr>
        <p:spPr>
          <a:xfrm>
            <a:off x="502920" y="3968496"/>
            <a:ext cx="5394960" cy="502920"/>
          </a:xfrm>
          <a:prstGeom prst="rect">
            <a:avLst/>
          </a:prstGeom>
          <a:noFill/>
        </p:spPr>
        <p:txBody>
          <a:bodyPr wrap="square">
            <a:spAutoFit/>
          </a:bodyPr>
          <a:lstStyle/>
          <a:p>
            <a:pPr algn="l"/>
            <a:r>
              <a:rPr sz="1000" b="0" i="0">
                <a:solidFill>
                  <a:srgbClr val="444444"/>
                </a:solidFill>
              </a:rPr>
              <a:t>✓  Motivation, accountability and practical strategies to stay on track</a:t>
            </a:r>
          </a:p>
        </p:txBody>
      </p:sp>
      <p:sp>
        <p:nvSpPr>
          <p:cNvPr id="12" name="TextBox 11"/>
          <p:cNvSpPr txBox="1"/>
          <p:nvPr/>
        </p:nvSpPr>
        <p:spPr>
          <a:xfrm>
            <a:off x="6263640" y="3968496"/>
            <a:ext cx="5394960" cy="502920"/>
          </a:xfrm>
          <a:prstGeom prst="rect">
            <a:avLst/>
          </a:prstGeom>
          <a:noFill/>
        </p:spPr>
        <p:txBody>
          <a:bodyPr wrap="square">
            <a:spAutoFit/>
          </a:bodyPr>
          <a:lstStyle/>
          <a:p>
            <a:pPr algn="l"/>
            <a:r>
              <a:rPr sz="1000" b="0" i="0">
                <a:solidFill>
                  <a:srgbClr val="444444"/>
                </a:solidFill>
              </a:rPr>
              <a:t>✓  Support for overcoming challenges and developing sustainable habits</a:t>
            </a:r>
          </a:p>
        </p:txBody>
      </p:sp>
      <p:sp>
        <p:nvSpPr>
          <p:cNvPr id="13" name="Rectangle 12"/>
          <p:cNvSpPr/>
          <p:nvPr/>
        </p:nvSpPr>
        <p:spPr>
          <a:xfrm>
            <a:off x="8961120" y="1280160"/>
            <a:ext cx="2926080" cy="466344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0" y="3428999"/>
            <a:ext cx="1097280" cy="365760"/>
          </a:xfrm>
          <a:prstGeom prst="rect">
            <a:avLst/>
          </a:prstGeom>
          <a:noFill/>
        </p:spPr>
        <p:txBody>
          <a:bodyPr wrap="square">
            <a:spAutoFit/>
          </a:bodyPr>
          <a:lstStyle/>
          <a:p>
            <a:pPr algn="ctr"/>
            <a:r>
              <a:rPr sz="900" b="0" i="0">
                <a:solidFill>
                  <a:srgbClr val="888888"/>
                </a:solidFill>
              </a:rPr>
              <a:t>[ Coaching session photo ]</a:t>
            </a:r>
          </a:p>
        </p:txBody>
      </p:sp>
      <p:sp>
        <p:nvSpPr>
          <p:cNvPr id="15" name="Rectangle 14"/>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17" name="TextBox 16"/>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18" name="TextBox 17"/>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8686800" cy="548640"/>
          </a:xfrm>
          <a:prstGeom prst="rect">
            <a:avLst/>
          </a:prstGeom>
          <a:noFill/>
        </p:spPr>
        <p:txBody>
          <a:bodyPr wrap="square">
            <a:spAutoFit/>
          </a:bodyPr>
          <a:lstStyle/>
          <a:p>
            <a:pPr algn="l"/>
            <a:r>
              <a:rPr sz="2400" b="1" i="0">
                <a:solidFill>
                  <a:srgbClr val="1F2937"/>
                </a:solidFill>
              </a:rPr>
              <a:t>Fast Start Meal Replacements</a:t>
            </a:r>
          </a:p>
        </p:txBody>
      </p:sp>
      <p:sp>
        <p:nvSpPr>
          <p:cNvPr id="4" name="TextBox 3"/>
          <p:cNvSpPr txBox="1"/>
          <p:nvPr/>
        </p:nvSpPr>
        <p:spPr>
          <a:xfrm>
            <a:off x="502920" y="896112"/>
            <a:ext cx="8686800" cy="365760"/>
          </a:xfrm>
          <a:prstGeom prst="rect">
            <a:avLst/>
          </a:prstGeom>
          <a:noFill/>
        </p:spPr>
        <p:txBody>
          <a:bodyPr wrap="square">
            <a:spAutoFit/>
          </a:bodyPr>
          <a:lstStyle/>
          <a:p>
            <a:pPr algn="l"/>
            <a:r>
              <a:rPr sz="1200" b="0" i="0">
                <a:solidFill>
                  <a:srgbClr val="00C4CC"/>
                </a:solidFill>
              </a:rPr>
              <a:t>Convenient nutrition on the go — boosting early weight loss and building confidence.</a:t>
            </a:r>
          </a:p>
        </p:txBody>
      </p:sp>
      <p:sp>
        <p:nvSpPr>
          <p:cNvPr id="5" name="Rectangle 4"/>
          <p:cNvSpPr/>
          <p:nvPr/>
        </p:nvSpPr>
        <p:spPr>
          <a:xfrm>
            <a:off x="411480" y="1444752"/>
            <a:ext cx="4160520" cy="182880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444752"/>
            <a:ext cx="91440" cy="182880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572768"/>
            <a:ext cx="3822191" cy="365760"/>
          </a:xfrm>
          <a:prstGeom prst="rect">
            <a:avLst/>
          </a:prstGeom>
          <a:noFill/>
        </p:spPr>
        <p:txBody>
          <a:bodyPr wrap="square">
            <a:spAutoFit/>
          </a:bodyPr>
          <a:lstStyle/>
          <a:p>
            <a:pPr algn="l"/>
            <a:r>
              <a:rPr sz="1100" b="1" i="0">
                <a:solidFill>
                  <a:srgbClr val="00C4CC"/>
                </a:solidFill>
              </a:rPr>
              <a:t>Kickstarts Weight Loss</a:t>
            </a:r>
          </a:p>
        </p:txBody>
      </p:sp>
      <p:sp>
        <p:nvSpPr>
          <p:cNvPr id="8" name="TextBox 7"/>
          <p:cNvSpPr txBox="1"/>
          <p:nvPr/>
        </p:nvSpPr>
        <p:spPr>
          <a:xfrm>
            <a:off x="612648" y="1993392"/>
            <a:ext cx="3822191" cy="1188720"/>
          </a:xfrm>
          <a:prstGeom prst="rect">
            <a:avLst/>
          </a:prstGeom>
          <a:noFill/>
        </p:spPr>
        <p:txBody>
          <a:bodyPr wrap="square">
            <a:spAutoFit/>
          </a:bodyPr>
          <a:lstStyle/>
          <a:p>
            <a:pPr algn="l"/>
            <a:r>
              <a:rPr sz="1000" b="0" i="0">
                <a:solidFill>
                  <a:srgbClr val="444444"/>
                </a:solidFill>
              </a:rPr>
              <a:t>Using meal replacements for breakfast and lunch in the first 3 weeks provides a boost in early weight loss, increasing confidence and motivation.</a:t>
            </a:r>
          </a:p>
        </p:txBody>
      </p:sp>
      <p:sp>
        <p:nvSpPr>
          <p:cNvPr id="9" name="Rectangle 8"/>
          <p:cNvSpPr/>
          <p:nvPr/>
        </p:nvSpPr>
        <p:spPr>
          <a:xfrm>
            <a:off x="4846320" y="1444752"/>
            <a:ext cx="4160520" cy="182880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46320" y="1444752"/>
            <a:ext cx="91440" cy="182880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47488" y="1572768"/>
            <a:ext cx="3822191" cy="365760"/>
          </a:xfrm>
          <a:prstGeom prst="rect">
            <a:avLst/>
          </a:prstGeom>
          <a:noFill/>
        </p:spPr>
        <p:txBody>
          <a:bodyPr wrap="square">
            <a:spAutoFit/>
          </a:bodyPr>
          <a:lstStyle/>
          <a:p>
            <a:pPr algn="l"/>
            <a:r>
              <a:rPr sz="1100" b="1" i="0">
                <a:solidFill>
                  <a:srgbClr val="00C4CC"/>
                </a:solidFill>
              </a:rPr>
              <a:t>Phased Transition</a:t>
            </a:r>
          </a:p>
        </p:txBody>
      </p:sp>
      <p:sp>
        <p:nvSpPr>
          <p:cNvPr id="12" name="TextBox 11"/>
          <p:cNvSpPr txBox="1"/>
          <p:nvPr/>
        </p:nvSpPr>
        <p:spPr>
          <a:xfrm>
            <a:off x="5047488" y="1993392"/>
            <a:ext cx="3822191" cy="1188720"/>
          </a:xfrm>
          <a:prstGeom prst="rect">
            <a:avLst/>
          </a:prstGeom>
          <a:noFill/>
        </p:spPr>
        <p:txBody>
          <a:bodyPr wrap="square">
            <a:spAutoFit/>
          </a:bodyPr>
          <a:lstStyle/>
          <a:p>
            <a:pPr algn="l"/>
            <a:r>
              <a:rPr sz="1000" b="0" i="0">
                <a:solidFill>
                  <a:srgbClr val="444444"/>
                </a:solidFill>
              </a:rPr>
              <a:t>Weeks 1–3: two Fast Start Shakes per day. Weeks 4+: gradual transition to the Total Wellbeing Diet whole-food plan, with the flexibility to continue using shakes as needed.</a:t>
            </a:r>
          </a:p>
        </p:txBody>
      </p:sp>
      <p:sp>
        <p:nvSpPr>
          <p:cNvPr id="13" name="Rectangle 12"/>
          <p:cNvSpPr/>
          <p:nvPr/>
        </p:nvSpPr>
        <p:spPr>
          <a:xfrm>
            <a:off x="411480" y="3456432"/>
            <a:ext cx="4160520" cy="182880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3456432"/>
            <a:ext cx="91440" cy="182880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584448"/>
            <a:ext cx="3822191" cy="365760"/>
          </a:xfrm>
          <a:prstGeom prst="rect">
            <a:avLst/>
          </a:prstGeom>
          <a:noFill/>
        </p:spPr>
        <p:txBody>
          <a:bodyPr wrap="square">
            <a:spAutoFit/>
          </a:bodyPr>
          <a:lstStyle/>
          <a:p>
            <a:pPr algn="l"/>
            <a:r>
              <a:rPr sz="1100" b="1" i="0">
                <a:solidFill>
                  <a:srgbClr val="00C4CC"/>
                </a:solidFill>
              </a:rPr>
              <a:t>Proven Results</a:t>
            </a:r>
          </a:p>
        </p:txBody>
      </p:sp>
      <p:sp>
        <p:nvSpPr>
          <p:cNvPr id="16" name="TextBox 15"/>
          <p:cNvSpPr txBox="1"/>
          <p:nvPr/>
        </p:nvSpPr>
        <p:spPr>
          <a:xfrm>
            <a:off x="612648" y="4005072"/>
            <a:ext cx="3822191" cy="1188720"/>
          </a:xfrm>
          <a:prstGeom prst="rect">
            <a:avLst/>
          </a:prstGeom>
          <a:noFill/>
        </p:spPr>
        <p:txBody>
          <a:bodyPr wrap="square">
            <a:spAutoFit/>
          </a:bodyPr>
          <a:lstStyle/>
          <a:p>
            <a:pPr algn="l"/>
            <a:r>
              <a:rPr sz="1000" b="0" i="0">
                <a:solidFill>
                  <a:srgbClr val="444444"/>
                </a:solidFill>
              </a:rPr>
              <a:t>98% of participants achieve weight loss. 75% achieve clinically significant reductions (&gt;5%). On average, participants experience a 7.4% reduction in body weight within 12 weeks.</a:t>
            </a:r>
          </a:p>
        </p:txBody>
      </p:sp>
      <p:sp>
        <p:nvSpPr>
          <p:cNvPr id="17" name="Rectangle 16"/>
          <p:cNvSpPr/>
          <p:nvPr/>
        </p:nvSpPr>
        <p:spPr>
          <a:xfrm>
            <a:off x="4846320" y="3456432"/>
            <a:ext cx="4160520" cy="182880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46320" y="3456432"/>
            <a:ext cx="91440" cy="182880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47488" y="3584448"/>
            <a:ext cx="3822191" cy="365760"/>
          </a:xfrm>
          <a:prstGeom prst="rect">
            <a:avLst/>
          </a:prstGeom>
          <a:noFill/>
        </p:spPr>
        <p:txBody>
          <a:bodyPr wrap="square">
            <a:spAutoFit/>
          </a:bodyPr>
          <a:lstStyle/>
          <a:p>
            <a:pPr algn="l"/>
            <a:r>
              <a:rPr sz="1100" b="1" i="0">
                <a:solidFill>
                  <a:srgbClr val="00C4CC"/>
                </a:solidFill>
              </a:rPr>
              <a:t>Adaptable to Any Program</a:t>
            </a:r>
          </a:p>
        </p:txBody>
      </p:sp>
      <p:sp>
        <p:nvSpPr>
          <p:cNvPr id="20" name="TextBox 19"/>
          <p:cNvSpPr txBox="1"/>
          <p:nvPr/>
        </p:nvSpPr>
        <p:spPr>
          <a:xfrm>
            <a:off x="5047488" y="4005072"/>
            <a:ext cx="3822191" cy="1188720"/>
          </a:xfrm>
          <a:prstGeom prst="rect">
            <a:avLst/>
          </a:prstGeom>
          <a:noFill/>
        </p:spPr>
        <p:txBody>
          <a:bodyPr wrap="square">
            <a:spAutoFit/>
          </a:bodyPr>
          <a:lstStyle/>
          <a:p>
            <a:pPr algn="l"/>
            <a:r>
              <a:rPr sz="1000" b="0" i="0">
                <a:solidFill>
                  <a:srgbClr val="444444"/>
                </a:solidFill>
              </a:rPr>
              <a:t>Fast Start Shakes can be seamlessly integrated into any Total Wellbeing Diet program — available in vanilla, strawberry, coffee and chocolate. The 3-Week Starter Pack includes 42 shakes and a shaker.</a:t>
            </a:r>
          </a:p>
        </p:txBody>
      </p:sp>
      <p:sp>
        <p:nvSpPr>
          <p:cNvPr id="21" name="Rectangle 20"/>
          <p:cNvSpPr/>
          <p:nvPr/>
        </p:nvSpPr>
        <p:spPr>
          <a:xfrm>
            <a:off x="411480" y="5486400"/>
            <a:ext cx="8641080" cy="621792"/>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5541264"/>
            <a:ext cx="1097280" cy="310896"/>
          </a:xfrm>
          <a:prstGeom prst="rect">
            <a:avLst/>
          </a:prstGeom>
          <a:noFill/>
        </p:spPr>
        <p:txBody>
          <a:bodyPr wrap="square">
            <a:spAutoFit/>
          </a:bodyPr>
          <a:lstStyle/>
          <a:p>
            <a:pPr algn="l"/>
            <a:r>
              <a:rPr sz="1400" b="1" i="0">
                <a:solidFill>
                  <a:srgbClr val="00C4CC"/>
                </a:solidFill>
              </a:rPr>
              <a:t>98%</a:t>
            </a:r>
          </a:p>
        </p:txBody>
      </p:sp>
      <p:sp>
        <p:nvSpPr>
          <p:cNvPr id="23" name="TextBox 22"/>
          <p:cNvSpPr txBox="1"/>
          <p:nvPr/>
        </p:nvSpPr>
        <p:spPr>
          <a:xfrm>
            <a:off x="1709928" y="5577840"/>
            <a:ext cx="1005840" cy="274320"/>
          </a:xfrm>
          <a:prstGeom prst="rect">
            <a:avLst/>
          </a:prstGeom>
          <a:noFill/>
        </p:spPr>
        <p:txBody>
          <a:bodyPr wrap="square">
            <a:spAutoFit/>
          </a:bodyPr>
          <a:lstStyle/>
          <a:p>
            <a:pPr algn="l"/>
            <a:r>
              <a:rPr sz="800" b="0" i="0">
                <a:solidFill>
                  <a:srgbClr val="FFFFFF"/>
                </a:solidFill>
              </a:rPr>
              <a:t>experience weight loss</a:t>
            </a:r>
          </a:p>
        </p:txBody>
      </p:sp>
      <p:sp>
        <p:nvSpPr>
          <p:cNvPr id="24" name="TextBox 23"/>
          <p:cNvSpPr txBox="1"/>
          <p:nvPr/>
        </p:nvSpPr>
        <p:spPr>
          <a:xfrm>
            <a:off x="2770632" y="5541264"/>
            <a:ext cx="1097280" cy="310896"/>
          </a:xfrm>
          <a:prstGeom prst="rect">
            <a:avLst/>
          </a:prstGeom>
          <a:noFill/>
        </p:spPr>
        <p:txBody>
          <a:bodyPr wrap="square">
            <a:spAutoFit/>
          </a:bodyPr>
          <a:lstStyle/>
          <a:p>
            <a:pPr algn="l"/>
            <a:r>
              <a:rPr sz="1400" b="1" i="0">
                <a:solidFill>
                  <a:srgbClr val="00C4CC"/>
                </a:solidFill>
              </a:rPr>
              <a:t>75%</a:t>
            </a:r>
          </a:p>
        </p:txBody>
      </p:sp>
      <p:sp>
        <p:nvSpPr>
          <p:cNvPr id="25" name="TextBox 24"/>
          <p:cNvSpPr txBox="1"/>
          <p:nvPr/>
        </p:nvSpPr>
        <p:spPr>
          <a:xfrm>
            <a:off x="3886200" y="5577840"/>
            <a:ext cx="1005840" cy="274320"/>
          </a:xfrm>
          <a:prstGeom prst="rect">
            <a:avLst/>
          </a:prstGeom>
          <a:noFill/>
        </p:spPr>
        <p:txBody>
          <a:bodyPr wrap="square">
            <a:spAutoFit/>
          </a:bodyPr>
          <a:lstStyle/>
          <a:p>
            <a:pPr algn="l"/>
            <a:r>
              <a:rPr sz="800" b="0" i="0">
                <a:solidFill>
                  <a:srgbClr val="FFFFFF"/>
                </a:solidFill>
              </a:rPr>
              <a:t>clinically significant loss</a:t>
            </a:r>
          </a:p>
        </p:txBody>
      </p:sp>
      <p:sp>
        <p:nvSpPr>
          <p:cNvPr id="26" name="TextBox 25"/>
          <p:cNvSpPr txBox="1"/>
          <p:nvPr/>
        </p:nvSpPr>
        <p:spPr>
          <a:xfrm>
            <a:off x="4946904" y="5541264"/>
            <a:ext cx="1097280" cy="310896"/>
          </a:xfrm>
          <a:prstGeom prst="rect">
            <a:avLst/>
          </a:prstGeom>
          <a:noFill/>
        </p:spPr>
        <p:txBody>
          <a:bodyPr wrap="square">
            <a:spAutoFit/>
          </a:bodyPr>
          <a:lstStyle/>
          <a:p>
            <a:pPr algn="l"/>
            <a:r>
              <a:rPr sz="1400" b="1" i="0">
                <a:solidFill>
                  <a:srgbClr val="00C4CC"/>
                </a:solidFill>
              </a:rPr>
              <a:t>7.4%</a:t>
            </a:r>
          </a:p>
        </p:txBody>
      </p:sp>
      <p:sp>
        <p:nvSpPr>
          <p:cNvPr id="27" name="TextBox 26"/>
          <p:cNvSpPr txBox="1"/>
          <p:nvPr/>
        </p:nvSpPr>
        <p:spPr>
          <a:xfrm>
            <a:off x="6062472" y="5577840"/>
            <a:ext cx="1005840" cy="274320"/>
          </a:xfrm>
          <a:prstGeom prst="rect">
            <a:avLst/>
          </a:prstGeom>
          <a:noFill/>
        </p:spPr>
        <p:txBody>
          <a:bodyPr wrap="square">
            <a:spAutoFit/>
          </a:bodyPr>
          <a:lstStyle/>
          <a:p>
            <a:pPr algn="l"/>
            <a:r>
              <a:rPr sz="800" b="0" i="0">
                <a:solidFill>
                  <a:srgbClr val="FFFFFF"/>
                </a:solidFill>
              </a:rPr>
              <a:t>avg body weight loss</a:t>
            </a:r>
          </a:p>
        </p:txBody>
      </p:sp>
      <p:sp>
        <p:nvSpPr>
          <p:cNvPr id="28" name="TextBox 27"/>
          <p:cNvSpPr txBox="1"/>
          <p:nvPr/>
        </p:nvSpPr>
        <p:spPr>
          <a:xfrm>
            <a:off x="7123176" y="5541264"/>
            <a:ext cx="1097280" cy="310896"/>
          </a:xfrm>
          <a:prstGeom prst="rect">
            <a:avLst/>
          </a:prstGeom>
          <a:noFill/>
        </p:spPr>
        <p:txBody>
          <a:bodyPr wrap="square">
            <a:spAutoFit/>
          </a:bodyPr>
          <a:lstStyle/>
          <a:p>
            <a:pPr algn="l"/>
            <a:r>
              <a:rPr sz="1400" b="1" i="0">
                <a:solidFill>
                  <a:srgbClr val="00C4CC"/>
                </a:solidFill>
              </a:rPr>
              <a:t>80%</a:t>
            </a:r>
          </a:p>
        </p:txBody>
      </p:sp>
      <p:sp>
        <p:nvSpPr>
          <p:cNvPr id="29" name="TextBox 28"/>
          <p:cNvSpPr txBox="1"/>
          <p:nvPr/>
        </p:nvSpPr>
        <p:spPr>
          <a:xfrm>
            <a:off x="8238744" y="5577840"/>
            <a:ext cx="1005840" cy="274320"/>
          </a:xfrm>
          <a:prstGeom prst="rect">
            <a:avLst/>
          </a:prstGeom>
          <a:noFill/>
        </p:spPr>
        <p:txBody>
          <a:bodyPr wrap="square">
            <a:spAutoFit/>
          </a:bodyPr>
          <a:lstStyle/>
          <a:p>
            <a:pPr algn="l"/>
            <a:r>
              <a:rPr sz="800" b="0" i="0">
                <a:solidFill>
                  <a:srgbClr val="FFFFFF"/>
                </a:solidFill>
              </a:rPr>
              <a:t>better craving control at 3 weeks</a:t>
            </a:r>
          </a:p>
        </p:txBody>
      </p:sp>
      <p:sp>
        <p:nvSpPr>
          <p:cNvPr id="30" name="Rectangle 29"/>
          <p:cNvSpPr/>
          <p:nvPr/>
        </p:nvSpPr>
        <p:spPr>
          <a:xfrm>
            <a:off x="9235440" y="1280160"/>
            <a:ext cx="2743200" cy="4846320"/>
          </a:xfrm>
          <a:prstGeom prst="rect">
            <a:avLst/>
          </a:prstGeom>
          <a:solidFill>
            <a:srgbClr val="F0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0" y="3520439"/>
            <a:ext cx="1097280" cy="365760"/>
          </a:xfrm>
          <a:prstGeom prst="rect">
            <a:avLst/>
          </a:prstGeom>
          <a:noFill/>
        </p:spPr>
        <p:txBody>
          <a:bodyPr wrap="square">
            <a:spAutoFit/>
          </a:bodyPr>
          <a:lstStyle/>
          <a:p>
            <a:pPr algn="ctr"/>
            <a:r>
              <a:rPr sz="900" b="0" i="0">
                <a:solidFill>
                  <a:srgbClr val="888888"/>
                </a:solidFill>
              </a:rPr>
              <a:t>[ Fast Start product photo ]</a:t>
            </a:r>
          </a:p>
        </p:txBody>
      </p:sp>
      <p:sp>
        <p:nvSpPr>
          <p:cNvPr id="32" name="Rectangle 31"/>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34" name="TextBox 33"/>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35" name="TextBox 34"/>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 y="2743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743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2743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60120" y="2743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88720" y="2743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17320" y="2743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74320" y="5029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02920" y="5029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1520" y="5029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0120" y="5029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88720" y="5029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17320" y="5029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74320" y="7315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02920" y="7315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1520" y="7315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7315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88720" y="7315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417320" y="7315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74320" y="9601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02920" y="9601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1520" y="9601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0120" y="9601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88720" y="9601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417320" y="960120"/>
            <a:ext cx="82296" cy="82296"/>
          </a:xfrm>
          <a:prstGeom prst="ellipse">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0"/>
            <a:ext cx="201168" cy="685800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1005840"/>
            <a:ext cx="10515600" cy="640080"/>
          </a:xfrm>
          <a:prstGeom prst="rect">
            <a:avLst/>
          </a:prstGeom>
          <a:noFill/>
        </p:spPr>
        <p:txBody>
          <a:bodyPr wrap="square">
            <a:spAutoFit/>
          </a:bodyPr>
          <a:lstStyle/>
          <a:p>
            <a:pPr algn="l"/>
            <a:r>
              <a:rPr sz="3000" b="0" i="0">
                <a:solidFill>
                  <a:srgbClr val="FFFFFF"/>
                </a:solidFill>
              </a:rPr>
              <a:t>Making better health possible —</a:t>
            </a:r>
          </a:p>
        </p:txBody>
      </p:sp>
      <p:sp>
        <p:nvSpPr>
          <p:cNvPr id="29" name="TextBox 28"/>
          <p:cNvSpPr txBox="1"/>
          <p:nvPr/>
        </p:nvSpPr>
        <p:spPr>
          <a:xfrm>
            <a:off x="548640" y="1627632"/>
            <a:ext cx="10515600" cy="640080"/>
          </a:xfrm>
          <a:prstGeom prst="rect">
            <a:avLst/>
          </a:prstGeom>
          <a:noFill/>
        </p:spPr>
        <p:txBody>
          <a:bodyPr wrap="square">
            <a:spAutoFit/>
          </a:bodyPr>
          <a:lstStyle/>
          <a:p>
            <a:pPr algn="l"/>
            <a:r>
              <a:rPr sz="3000" b="1" i="0">
                <a:solidFill>
                  <a:srgbClr val="00C4CC"/>
                </a:solidFill>
              </a:rPr>
              <a:t>for everyone, for life.</a:t>
            </a:r>
          </a:p>
        </p:txBody>
      </p:sp>
      <p:sp>
        <p:nvSpPr>
          <p:cNvPr id="30" name="Rectangle 29"/>
          <p:cNvSpPr/>
          <p:nvPr/>
        </p:nvSpPr>
        <p:spPr>
          <a:xfrm>
            <a:off x="548640" y="2423160"/>
            <a:ext cx="10515600" cy="36576"/>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2606040"/>
            <a:ext cx="3566160" cy="3200400"/>
          </a:xfrm>
          <a:prstGeom prst="rect">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2606040"/>
            <a:ext cx="3566160" cy="64008"/>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2761488"/>
            <a:ext cx="3200400" cy="411480"/>
          </a:xfrm>
          <a:prstGeom prst="rect">
            <a:avLst/>
          </a:prstGeom>
          <a:noFill/>
        </p:spPr>
        <p:txBody>
          <a:bodyPr wrap="square">
            <a:spAutoFit/>
          </a:bodyPr>
          <a:lstStyle/>
          <a:p>
            <a:pPr algn="l"/>
            <a:r>
              <a:rPr sz="1300" b="1" i="0">
                <a:solidFill>
                  <a:srgbClr val="FFFFFF"/>
                </a:solidFill>
              </a:rPr>
              <a:t>Science is our moat.</a:t>
            </a:r>
          </a:p>
        </p:txBody>
      </p:sp>
      <p:sp>
        <p:nvSpPr>
          <p:cNvPr id="34" name="TextBox 33"/>
          <p:cNvSpPr txBox="1"/>
          <p:nvPr/>
        </p:nvSpPr>
        <p:spPr>
          <a:xfrm>
            <a:off x="731520" y="3218688"/>
            <a:ext cx="3200400" cy="1554480"/>
          </a:xfrm>
          <a:prstGeom prst="rect">
            <a:avLst/>
          </a:prstGeom>
          <a:noFill/>
        </p:spPr>
        <p:txBody>
          <a:bodyPr wrap="square">
            <a:spAutoFit/>
          </a:bodyPr>
          <a:lstStyle/>
          <a:p>
            <a:pPr algn="l"/>
            <a:r>
              <a:rPr sz="1000" b="0" i="0">
                <a:solidFill>
                  <a:srgbClr val="888888"/>
                </a:solidFill>
              </a:rPr>
              <a:t>CSIRO and Mayo Clinic are the most trusted health research brands in their markets. No competitor can replicate this depth of peer-reviewed authority.</a:t>
            </a:r>
          </a:p>
        </p:txBody>
      </p:sp>
      <p:sp>
        <p:nvSpPr>
          <p:cNvPr id="35" name="Rectangle 34"/>
          <p:cNvSpPr/>
          <p:nvPr/>
        </p:nvSpPr>
        <p:spPr>
          <a:xfrm>
            <a:off x="4343400" y="2606040"/>
            <a:ext cx="3566160" cy="3200400"/>
          </a:xfrm>
          <a:prstGeom prst="rect">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43400" y="2606040"/>
            <a:ext cx="3566160" cy="64008"/>
          </a:xfrm>
          <a:prstGeom prst="rect">
            <a:avLst/>
          </a:prstGeom>
          <a:solidFill>
            <a:srgbClr val="009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26280" y="2761488"/>
            <a:ext cx="3200400" cy="411480"/>
          </a:xfrm>
          <a:prstGeom prst="rect">
            <a:avLst/>
          </a:prstGeom>
          <a:noFill/>
        </p:spPr>
        <p:txBody>
          <a:bodyPr wrap="square">
            <a:spAutoFit/>
          </a:bodyPr>
          <a:lstStyle/>
          <a:p>
            <a:pPr algn="l"/>
            <a:r>
              <a:rPr sz="1300" b="1" i="0">
                <a:solidFill>
                  <a:srgbClr val="FFFFFF"/>
                </a:solidFill>
              </a:rPr>
              <a:t>Prevention pays.</a:t>
            </a:r>
          </a:p>
        </p:txBody>
      </p:sp>
      <p:sp>
        <p:nvSpPr>
          <p:cNvPr id="38" name="TextBox 37"/>
          <p:cNvSpPr txBox="1"/>
          <p:nvPr/>
        </p:nvSpPr>
        <p:spPr>
          <a:xfrm>
            <a:off x="4526280" y="3218688"/>
            <a:ext cx="3200400" cy="1554480"/>
          </a:xfrm>
          <a:prstGeom prst="rect">
            <a:avLst/>
          </a:prstGeom>
          <a:noFill/>
        </p:spPr>
        <p:txBody>
          <a:bodyPr wrap="square">
            <a:spAutoFit/>
          </a:bodyPr>
          <a:lstStyle/>
          <a:p>
            <a:pPr algn="l"/>
            <a:r>
              <a:rPr sz="1000" b="0" i="0">
                <a:solidFill>
                  <a:srgbClr val="888888"/>
                </a:solidFill>
              </a:rPr>
              <a:t>Every dollar invested in upstream risk identification and chronic disease management reduces future claims, hospitalisation and workforce absenteeism.</a:t>
            </a:r>
          </a:p>
        </p:txBody>
      </p:sp>
      <p:sp>
        <p:nvSpPr>
          <p:cNvPr id="39" name="Rectangle 38"/>
          <p:cNvSpPr/>
          <p:nvPr/>
        </p:nvSpPr>
        <p:spPr>
          <a:xfrm>
            <a:off x="8138160" y="2606040"/>
            <a:ext cx="3566160" cy="3200400"/>
          </a:xfrm>
          <a:prstGeom prst="rect">
            <a:avLst/>
          </a:prstGeom>
          <a:solidFill>
            <a:srgbClr val="253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138160" y="2606040"/>
            <a:ext cx="3566160" cy="64008"/>
          </a:xfrm>
          <a:prstGeom prst="rect">
            <a:avLst/>
          </a:prstGeom>
          <a:solidFill>
            <a:srgbClr val="009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0" y="2761488"/>
            <a:ext cx="3200400" cy="411480"/>
          </a:xfrm>
          <a:prstGeom prst="rect">
            <a:avLst/>
          </a:prstGeom>
          <a:noFill/>
        </p:spPr>
        <p:txBody>
          <a:bodyPr wrap="square">
            <a:spAutoFit/>
          </a:bodyPr>
          <a:lstStyle/>
          <a:p>
            <a:pPr algn="l"/>
            <a:r>
              <a:rPr sz="1300" b="1" i="0">
                <a:solidFill>
                  <a:srgbClr val="FFFFFF"/>
                </a:solidFill>
              </a:rPr>
              <a:t>We walk alongside you.</a:t>
            </a:r>
          </a:p>
        </p:txBody>
      </p:sp>
      <p:sp>
        <p:nvSpPr>
          <p:cNvPr id="42" name="TextBox 41"/>
          <p:cNvSpPr txBox="1"/>
          <p:nvPr/>
        </p:nvSpPr>
        <p:spPr>
          <a:xfrm>
            <a:off x="8321040" y="3218688"/>
            <a:ext cx="3200400" cy="1554480"/>
          </a:xfrm>
          <a:prstGeom prst="rect">
            <a:avLst/>
          </a:prstGeom>
          <a:noFill/>
        </p:spPr>
        <p:txBody>
          <a:bodyPr wrap="square">
            <a:spAutoFit/>
          </a:bodyPr>
          <a:lstStyle/>
          <a:p>
            <a:pPr algn="l"/>
            <a:r>
              <a:rPr sz="1000" b="0" i="0">
                <a:solidFill>
                  <a:srgbClr val="888888"/>
                </a:solidFill>
              </a:rPr>
              <a:t>From program design to launch, marketing support, staff training and ongoing reporting — your success is our success.</a:t>
            </a:r>
          </a:p>
        </p:txBody>
      </p:sp>
      <p:sp>
        <p:nvSpPr>
          <p:cNvPr id="43" name="TextBox 42"/>
          <p:cNvSpPr txBox="1"/>
          <p:nvPr/>
        </p:nvSpPr>
        <p:spPr>
          <a:xfrm>
            <a:off x="548640" y="6309360"/>
            <a:ext cx="10972800" cy="292608"/>
          </a:xfrm>
          <a:prstGeom prst="rect">
            <a:avLst/>
          </a:prstGeom>
          <a:noFill/>
        </p:spPr>
        <p:txBody>
          <a:bodyPr wrap="square">
            <a:spAutoFit/>
          </a:bodyPr>
          <a:lstStyle/>
          <a:p>
            <a:pPr algn="ctr"/>
            <a:r>
              <a:rPr sz="900" b="0" i="0">
                <a:solidFill>
                  <a:srgbClr val="888888"/>
                </a:solidFill>
              </a:rPr>
              <a:t>Digital Wellness®   |   www.digitalwellness.com   |   www.totalwellbeingdiet.com</a:t>
            </a:r>
          </a:p>
        </p:txBody>
      </p:sp>
      <p:sp>
        <p:nvSpPr>
          <p:cNvPr id="44" name="Rectangle 43"/>
          <p:cNvSpPr/>
          <p:nvPr/>
        </p:nvSpPr>
        <p:spPr>
          <a:xfrm>
            <a:off x="0" y="6473952"/>
            <a:ext cx="12188952" cy="384048"/>
          </a:xfrm>
          <a:prstGeom prst="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8600" y="6519672"/>
            <a:ext cx="2011680" cy="292608"/>
          </a:xfrm>
          <a:prstGeom prst="rect">
            <a:avLst/>
          </a:prstGeom>
          <a:noFill/>
        </p:spPr>
        <p:txBody>
          <a:bodyPr wrap="square">
            <a:spAutoFit/>
          </a:bodyPr>
          <a:lstStyle/>
          <a:p>
            <a:pPr algn="l"/>
            <a:r>
              <a:rPr sz="900" b="1" i="0">
                <a:solidFill>
                  <a:srgbClr val="FFFFFF"/>
                </a:solidFill>
              </a:rPr>
              <a:t>Digital Wellness®</a:t>
            </a:r>
          </a:p>
        </p:txBody>
      </p:sp>
      <p:sp>
        <p:nvSpPr>
          <p:cNvPr id="46" name="TextBox 45"/>
          <p:cNvSpPr txBox="1"/>
          <p:nvPr/>
        </p:nvSpPr>
        <p:spPr>
          <a:xfrm>
            <a:off x="2286000" y="6528816"/>
            <a:ext cx="4572000" cy="274320"/>
          </a:xfrm>
          <a:prstGeom prst="rect">
            <a:avLst/>
          </a:prstGeom>
          <a:noFill/>
        </p:spPr>
        <p:txBody>
          <a:bodyPr wrap="square">
            <a:spAutoFit/>
          </a:bodyPr>
          <a:lstStyle/>
          <a:p>
            <a:pPr algn="l"/>
            <a:r>
              <a:rPr sz="800" b="0" i="0">
                <a:solidFill>
                  <a:srgbClr val="888888"/>
                </a:solidFill>
              </a:rPr>
              <a:t>|   www.digitalwellness.com</a:t>
            </a:r>
          </a:p>
        </p:txBody>
      </p:sp>
      <p:sp>
        <p:nvSpPr>
          <p:cNvPr id="47" name="TextBox 46"/>
          <p:cNvSpPr txBox="1"/>
          <p:nvPr/>
        </p:nvSpPr>
        <p:spPr>
          <a:xfrm>
            <a:off x="10789920" y="6528816"/>
            <a:ext cx="1188720" cy="274320"/>
          </a:xfrm>
          <a:prstGeom prst="rect">
            <a:avLst/>
          </a:prstGeom>
          <a:noFill/>
        </p:spPr>
        <p:txBody>
          <a:bodyPr wrap="square">
            <a:spAutoFit/>
          </a:bodyPr>
          <a:lstStyle/>
          <a:p>
            <a:pPr algn="r"/>
            <a:r>
              <a:rPr sz="800" b="0" i="0">
                <a:solidFill>
                  <a:srgbClr val="888888"/>
                </a:solidFill>
              </a:rPr>
              <a:t>PAGE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